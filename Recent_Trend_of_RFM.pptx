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303" r:id="rId2"/>
    <p:sldId id="461" r:id="rId3"/>
    <p:sldId id="481" r:id="rId4"/>
    <p:sldId id="476" r:id="rId5"/>
    <p:sldId id="466" r:id="rId6"/>
    <p:sldId id="494" r:id="rId7"/>
    <p:sldId id="470" r:id="rId8"/>
    <p:sldId id="508" r:id="rId9"/>
    <p:sldId id="490" r:id="rId10"/>
    <p:sldId id="491" r:id="rId11"/>
    <p:sldId id="509" r:id="rId12"/>
    <p:sldId id="495" r:id="rId13"/>
    <p:sldId id="465" r:id="rId14"/>
    <p:sldId id="479" r:id="rId15"/>
    <p:sldId id="480" r:id="rId16"/>
    <p:sldId id="496" r:id="rId17"/>
    <p:sldId id="483" r:id="rId18"/>
    <p:sldId id="493" r:id="rId19"/>
    <p:sldId id="474" r:id="rId20"/>
    <p:sldId id="485" r:id="rId21"/>
    <p:sldId id="469" r:id="rId22"/>
    <p:sldId id="488" r:id="rId23"/>
    <p:sldId id="504" r:id="rId24"/>
    <p:sldId id="506" r:id="rId25"/>
    <p:sldId id="507" r:id="rId26"/>
    <p:sldId id="503" r:id="rId27"/>
    <p:sldId id="505" r:id="rId28"/>
    <p:sldId id="497" r:id="rId29"/>
    <p:sldId id="471" r:id="rId30"/>
    <p:sldId id="472" r:id="rId31"/>
    <p:sldId id="500" r:id="rId32"/>
    <p:sldId id="492" r:id="rId33"/>
    <p:sldId id="498" r:id="rId34"/>
    <p:sldId id="473" r:id="rId35"/>
    <p:sldId id="501" r:id="rId36"/>
    <p:sldId id="463" r:id="rId37"/>
    <p:sldId id="462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8EFE"/>
    <a:srgbClr val="004DFF"/>
    <a:srgbClr val="00FFE0"/>
    <a:srgbClr val="00FFC1"/>
    <a:srgbClr val="00FFFB"/>
    <a:srgbClr val="00FF0D"/>
    <a:srgbClr val="FF9900"/>
    <a:srgbClr val="D4E1F4"/>
    <a:srgbClr val="BED5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24"/>
    <p:restoredTop sz="76316"/>
  </p:normalViewPr>
  <p:slideViewPr>
    <p:cSldViewPr snapToGrid="0">
      <p:cViewPr varScale="1">
        <p:scale>
          <a:sx n="118" d="100"/>
          <a:sy n="118" d="100"/>
        </p:scale>
        <p:origin x="1936" y="200"/>
      </p:cViewPr>
      <p:guideLst/>
    </p:cSldViewPr>
  </p:slideViewPr>
  <p:outlineViewPr>
    <p:cViewPr>
      <p:scale>
        <a:sx n="33" d="100"/>
        <a:sy n="33" d="100"/>
      </p:scale>
      <p:origin x="0" y="-21264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F3749-4349-EF4C-ACD2-B67A34857083}" type="datetimeFigureOut">
              <a:rPr kumimoji="1" lang="ko-KR" altLang="en-US" smtClean="0"/>
              <a:t>2026. 5. 29.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5E9EC-E196-5942-B4EF-DDB2868182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008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 I’ll talk about </a:t>
            </a:r>
            <a:r>
              <a:rPr lang="en" altLang="ko-K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Relational Foundation Models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RFMs 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especialy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KumoRFM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which is suggest by 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Kumoai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161A-2C6E-9144-99F4-DD7ADE4D0521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8310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F09F6-0CF6-6552-B208-1B9A5842B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D61A62-FB15-3714-7F20-5A38C93B5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216EDB-8C3B-E0E6-AB5C-331DAD389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I’ll talk in this order.</a:t>
            </a:r>
            <a:endParaRPr kumimoji="1" lang="en-US" altLang="ko-KR" dirty="0"/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I’ll start from basic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introduction of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reldb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then move through relational deep learning, graph transformers, and finally RFMs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 I’ll briefly cover benchmarks and toy examples, and then conclude with my perspective.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I want to think about 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 this field is truly necessary and it can be included in our next steps.</a:t>
            </a:r>
            <a:endParaRPr lang="en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652254-D2A3-4CEE-8282-032F7524E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9512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87C35-722F-FCCF-FE92-BF5A52972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EE35FF-4C80-8C7E-D862-917E0BAD7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1760D6-7C34-ECD9-5034-BF01DF6B7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guess you guys already took a database course of EE or CS and remember the fundamental notions about database.</a:t>
            </a:r>
            <a:endParaRPr lang="en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real-world enterprise data does not live in text or graph format -it lives in relational databases.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e-commerce, finance, and healthcare.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shown in the right most image, they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 multiple </a:t>
            </a:r>
            <a:r>
              <a:rPr lang="en" altLang="ko-K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system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3332FC-4AF5-C9E7-1136-2A02D041E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2173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0E9EB-2596-1882-EF0F-4DE14D1CC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F6166E-AB92-1BF3-F425-952D37239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251917-886E-ECD0-ADE8-57B142717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me remind the terminology.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this is the database of e-commerce system. 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of this is called table.(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table, product table, transaction table)</a:t>
            </a:r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row in table is treated as an entity. Each column includes attribute.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PK: </a:t>
            </a:r>
            <a:r>
              <a:rPr lang="en" altLang="ko-KR" b="0" i="0" dirty="0"/>
              <a:t>A primary key uniquely identifies each record in a table.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FK: A foreign key references a primary key in another table, defining a relationship between records.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relation is shown in a arrow connecting the primary-foreign key relations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transaction table is history of the event o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ccurred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so, most of database includes timestamp in the table.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relational deep learning, timestamp is important part of understanding the sampling strategy.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6C2BBF-6A89-3062-38AB-92A5233A0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8657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DDC52-2594-65E5-A129-8A00E269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05862E-6EED-3E1A-8D7F-C5DB71243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40A063-A093-390B-E31A-1D45359E1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Recent history of 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rdl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Kumo serves as a pioneer in this field, suggesting 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RELBench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Relational Deep Learning framework in 2024.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last year 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KumoRFM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was founded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 on 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Relational Graph Transformers.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field is so young.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6EB72F-A58A-F2E7-E754-7603D736B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43934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1F90B-72EB-E706-BF7C-AD153DA58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34BE9E-459D-C742-9D96-7AACD9C1F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7BDF6E-F8BD-2998-0419-7A1C848B3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follows describes the common structure within the Relational Deep Learning framework.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3C6049-A5D4-8377-D41B-48B19038F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0668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2DEEB-88E9-81C7-7318-C79986B5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52CC59-9452-685C-C8B3-333B9AF67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7FB54-C80E-1B85-F9A7-A1FF967B0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29767A-336C-0E3B-350B-02EB1F2B9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34723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DBC8-0993-9447-253F-BB060243B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3B098E-736A-1D58-372F-CC8BFCC34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272020-7846-6192-55D7-FD98F2466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core abstraction is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Relational Entity Graph</a:t>
            </a:r>
            <a:r>
              <a:rPr lang="en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start from the schema graph, where each table is treated as a whole big node and edges define how tables are connected through primary–foreign key relationships.</a:t>
            </a: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we want to convert it to the graph.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row in each table becomes a node, and each primary–foreign key relation becomes an edge between nodes.</a:t>
            </a:r>
          </a:p>
          <a:p>
            <a:endParaRPr lang="en" altLang="ko-K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I’ll show how this conversion works in practice.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thing to note is that there is a subtle mistake in the video: rows within the same table are not necessarily connected to each other—in most cases, they are not.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representation, relational entity graph allows us to reinterpret relational databases as large-scale, and heterogeneous graphs.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9A673D-E224-66A1-D154-F640B3BCA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3309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34FF6-6324-64E7-72C7-2E220AD99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220CBD-DBC0-4AF9-915C-76BB91EF0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87029B-2C1A-024B-2102-18121564E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insight for model training is the construction of a training table, denoted as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T_train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training table contains supervision labels that are automatically generated from historical data stored in the relational database.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 than manually labeling data, the labels are computed directly from past events and interactions.</a:t>
            </a: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at a given time t, the ground-truth label for a task such as </a:t>
            </a:r>
            <a:r>
              <a:rPr lang="en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“how much will each customer spend in the next 90 days?”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computed by summing that customer’s spending over the interval [t, t + 90].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selecting multiple reference time points t, we can generate many training examples per entity, all in a time-consistent manner.</a:t>
            </a: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the training table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T_train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linked back to the main relational database through primary–foreign key relationships.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010A74-1C75-3581-5C11-36C01AB73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9797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501F7-AC8C-0F17-8E1D-0265E38B8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6FDE67-5CD4-CCB6-05CC-A8267735F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CB17C6-6CD3-59FB-048D-B9270160F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constructing and linking the training table, we can generate a 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subgraph for each training instance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subgraph serves as a local, time-consistent computational graph used to predict the ground-truth label for that instance.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more important thing when sampling the subgraph is that we do not want the future value affect to the past value.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ensure temporal correctness, information flow within the subgraph can go forward in time. it is only allowed to attend to events that occurred before time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t_v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 to this point, this defines the core preprocessing pipeline that constructs trainable, time-consistent subgraphs as inputs to the model.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9D644E-2510-BF03-A958-BF9E60C71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9883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DA256-71C7-2C27-69EC-814A21A2C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DD1461-BF82-A901-FF37-367FEEB51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4464BA-4566-2840-4EC7-6227DADC4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constructing and linking the training table, we can generate a 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subgraph for each training instance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subgraph serves as a local, time-consistent computational graph used to predict the ground-truth label for that instance.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more important thing when sampling the subgraph is that we do not want the future value affect to the past value.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ensure temporal correctness, information flow within the subgraph can go forward in time. it is only allowed to attend to events that occurred before time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t_v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 to this point, this defines the core preprocessing pipeline that constructs trainable, time-consistent subgraphs as inputs to the model.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E5E11-E5B1-A67C-F9C9-DD6F70C2A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8548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C5A88-B464-024C-245F-5FB44F24F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E0A208-ABF2-536F-9EA1-52471DD88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F5A4C9-CD29-0B5B-35E8-CEAA982FE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7B32C0-9606-D481-384F-F0106DEE0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68962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49412-4FEA-6940-D6DD-5AE401A0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E39F01-6302-C5A6-A396-5D3D3E3A2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226EF4-F7EE-8782-3FD3-5E44541FC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RELGT is a Transformer architecture specifically designed for large-scale, heterogeneous, and temporal relational graphs.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representing each node with a single embedding, RELGT tokenizes each node into a structured representation that captures its attributes, node type, temporal context, and structural role.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tokenization allows Transformer attention to operate effectively on relational graphs while preserving the key properties of database-derived structures.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4AC7B8-D0A9-C004-2E6A-3EF688735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5140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3C3BD-1FA5-353A-401D-3AC4660F5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4C46BE-1254-3E12-D995-49B7FD464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8311AF-3C2A-2265-176F-C7209435E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token element has its own encoder: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tokenizing each node, 5 main information is encoded as learnable embeddings: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feature encoder encodes attributes: ages, country, product explanation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type encoder for heterogeneity: the source table where this node is come from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hop encoder for structure: from given seed node, how far it is located.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time encoder for temporality: from given seed node, how old it is generated.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subgraph GNN for local topology: simple GNN is used to embed the local structure information into a node</a:t>
            </a:r>
          </a:p>
          <a:p>
            <a:endParaRPr lang="en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they are concatenated and create a structurally rich token without global preprocessing.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DDEA82-0A56-8CDE-FF06-6C9AFB6FD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622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6BB59-E255-39F6-CF34-203E61992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04B00F-1927-D485-28C9-BBC3343C6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546B22-CA24-C017-79E1-9F825B1D5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RELGT uses a hybrid attention design with both </a:t>
            </a:r>
            <a:r>
              <a:rPr lang="en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modules.</a:t>
            </a: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Locally, this is full self-attention: every node in the subgraph attends to its K sampled neighbors.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in e-commerce data, products that never directly connect can still interact through shared customers or transactions.</a:t>
            </a: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Globally, The global attention enables each seed node to attend to a set of B</a:t>
            </a: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tokens. it represents centroids of all nodes in the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graph.</a:t>
            </a:r>
          </a:p>
          <a:p>
            <a:r>
              <a:rPr lang="en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centroids are updated during training using an Exponential Moving Average (EMA) K-Means algorithm applied to seed node features in each mini-batch.</a:t>
            </a:r>
          </a:p>
          <a:p>
            <a:endParaRPr lang="en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combining local structural and global context, RELGT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capture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long-range dependencies, heterogeneity, and temporal relation.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40E851-AD7F-138A-DA2A-7AAC7E12A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6185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6CFF-FE03-F91D-EA39-F749FAB2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74CED0-27C3-4AF0-377B-D35CEEAE4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A5A439-F9E6-8283-57F2-790B4B5FD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078591-7BE5-7022-8929-118801986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08835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FD5C9-E28A-DA89-E243-5D54983F6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6FC678-D4EF-E244-808D-C5101AF51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65FE3C-76EA-F5B7-813A-0F24E9147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 to this point, this has been the buildup for introducing </a:t>
            </a:r>
            <a:r>
              <a:rPr lang="en" altLang="ko-KR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KumoRFM</a:t>
            </a:r>
            <a:r>
              <a:rPr lang="en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kumimoji="1" lang="en-US" altLang="ko-KR" sz="120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spent time explaining these components in detail because </a:t>
            </a:r>
            <a:r>
              <a:rPr lang="en" altLang="ko-KR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KumoRFM</a:t>
            </a:r>
            <a:r>
              <a:rPr lang="en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designed on top of the RDL framework, </a:t>
            </a:r>
            <a:r>
              <a:rPr lang="en-US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it is pretrained based on</a:t>
            </a:r>
            <a:r>
              <a:rPr lang="en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RELGT as a core </a:t>
            </a:r>
            <a:r>
              <a:rPr lang="en" altLang="ko-KR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</a:t>
            </a:r>
            <a:r>
              <a:rPr lang="en-US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Kumorfm</a:t>
            </a:r>
            <a:r>
              <a:rPr lang="en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relational foundation model suggested by </a:t>
            </a:r>
            <a:r>
              <a:rPr lang="en" altLang="ko-KR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kumo</a:t>
            </a:r>
            <a:r>
              <a:rPr lang="en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group, and it does not need any data or task-specific training.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now on, </a:t>
            </a:r>
            <a:r>
              <a:rPr lang="en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explain the core components of </a:t>
            </a:r>
            <a:r>
              <a:rPr lang="en" altLang="ko-KR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KumoRFM</a:t>
            </a:r>
            <a:r>
              <a:rPr lang="en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ko-KR" sz="120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ko-KR" sz="120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307E5-0673-BA81-AF2C-2F2D11C04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348234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7C1D0-4CDD-9128-5D02-DA42C63DB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7E7E4C-482A-F108-DAEE-5D67969ED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19581F-6119-AF8B-E08B-CD62D2327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K-hop subgraph is sampled up to timestamp t of seed node.</a:t>
            </a:r>
            <a:endParaRPr lang="en" altLang="ko-KR" sz="120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ko-KR" sz="120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KumoRFM</a:t>
            </a:r>
            <a:r>
              <a:rPr lang="en" altLang="ko-KR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in-context learning.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ko-KR" sz="120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1B47E8-8204-0A1C-70F3-7D2E64643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347681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9B04-708C-2035-481A-2AC235E46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CEBE4C-C1B9-8BEA-D00A-76DD4C465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22C363-ECA1-5EE4-2887-9F1F92DF3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think most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you already know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SQL is and how to use it.</a:t>
            </a:r>
          </a:p>
          <a:p>
            <a:endParaRPr lang="en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 to SQL, </a:t>
            </a:r>
            <a:r>
              <a:rPr lang="en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KumoRFM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a special syntax which is called Predictive Query Language(a for prediction task over relational data.</a:t>
            </a: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manually constructing training pipelines, the user defines </a:t>
            </a:r>
            <a:r>
              <a:rPr lang="en" altLang="ko-KR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to predict, for which entity, and over what future time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we input the </a:t>
            </a:r>
            <a:r>
              <a:rPr lang="en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querty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system then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translates it into a time-consistent relational learning problem.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means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constructing the input subgraphs, labels, and training data internally.</a:t>
            </a:r>
          </a:p>
          <a:p>
            <a:endParaRPr lang="en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 i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013C89-07FC-F56E-805A-BE42C60E1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4376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2C623-9849-9BC6-8046-099255EFB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B6AA67-939C-BFE7-0E62-FFBA4D533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D46571-9BFA-525A-044D-602EF38EC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query has a predictable label (in PREDICT clause) and entity definition (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clause), defining both the entities for which predictions are made the label for every individual entity. </a:t>
            </a: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Additional filters (using WHERE clause) can be applied to both the label and entity clause. </a:t>
            </a: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PQL supports aggregations (like SUM, COUNT, AVG, LIST_DISTINCT), binary operations (=, &lt;, CONTAINS, etc.), and logical operations across different time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(like hours, days, months).</a:t>
            </a:r>
          </a:p>
          <a:p>
            <a:endParaRPr lang="en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KumoRFM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every predictive query basically have PREDICT, and FOR clause.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 clause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defines the 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 - 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we want to predict for each entity.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clause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defines the 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 set - 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whom the predictions are made for.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 image in previous slide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conditions 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 entities or labels to choose.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Importantly, PQL supports 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relational aggregations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such as SUM, COUNT, and AVG, as well as logical and comparison operators across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 time constraint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like hours, days, or months.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 result, it says PQL can express rich query and act as a versatile interface of 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KumoRFM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Plus, PQL support various predictive task such as regression ,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bc</a:t>
            </a:r>
            <a:endParaRPr lang="en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A0DD3A-1C05-6537-F81C-DDD30A5FE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723980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069E2-550F-F41A-8AD1-627F05FEB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A59EAE-2D12-EE02-5091-C548A76A2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238B6E-4432-7B7C-A30A-A1C86A6A5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inference, 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KumoRFM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performs 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in-context learning dynamically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updating the graph on the fly.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 labels are grouped into a dynamically constructed training table, which is attached to the entity table and used as contextual information for prediction.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0AABF2-F96A-7229-8E33-2DC072DD2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332326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C1CF2-480A-379E-AA98-A2F1689FF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28F834-168E-D652-361C-98EB27DEE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D6D711-88AF-2DD2-264F-B2BCFE96F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CD6606-A6D2-2F8C-21A2-5469F0A364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88869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32879-371B-F434-E092-59F988FE2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42EDE6-8101-64D3-AF24-7C5954BFA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79B5E3-7806-1869-BBB2-7ED144B5F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ko-KR" sz="120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C2887A-781E-4A0B-25C7-631132717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045362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42133-751F-AD07-BFD5-F579D8B56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59D089-81DB-BFA2-F5DB-9F99BD72F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CEC6FE-CB68-7B71-2FE3-2173E010C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 i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D0A526-14C5-F813-5540-5DEAAF54B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46158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24184-91DB-53F4-D342-08A4F8723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BAC7FA-963A-3FC3-2B83-7569B3B78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0D718E-6E2F-452B-14D8-DAF47FBD3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 i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DA31BD-8075-15BD-FDB9-F003D855F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50791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D7104-8C89-8AB5-DBCC-B8051CE7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557D83-F13C-C38A-6A9C-6E66ECC06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998944-50B5-C778-EFAC-E14A396EC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Benchmark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6A2EC2-E878-1E1D-DA23-193FDBEB3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04800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97791-7A77-3054-24EE-1A75BDDEC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00A408-FC28-D49F-9EDA-E317E4E36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843573-5775-5E45-5213-6AD92ABB3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Benchmark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92ED48-0BC8-31AA-AB6B-94546E2A4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680659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C86A-7C98-AC89-72D5-43FA09195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59EC76-49B7-8918-23DA-48D654ED6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6A1C02-F538-F435-7ACA-AE6EBAC49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33AD58-B8DA-D392-42B4-CC18E4B9A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9313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0F04B-A9CF-E21C-1A67-DAF0AFE11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050897-5D41-EFD3-1652-66DC899CE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2C0F8F-025D-7704-D341-0F7FDD7CB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Benchmark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E7ECE5-F96E-E4C6-CE86-2B24622D3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29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38312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9D7C5-8C43-330E-AB1A-15E495AC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A63273-52B3-B8FD-163E-1F697D925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0DAA34-2068-43A9-97DA-90C5F209F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Benchmark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9071C1-E7AE-4EDF-1E83-E61B0DF9D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999761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A0655-CA32-FE54-0463-34973F3A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7EA2A6-1F3C-E658-EA19-99CABEC4F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BFE0DF-3690-E5F7-88E8-8B253C4D2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Benchmark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08EE11-4CCF-A48B-19C9-0AA6CF8E7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31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60752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3F65-5126-8879-FA3A-C84ED6A3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ECB646-93CA-6C71-68B7-9FD5AF559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49445D-2E75-2141-A3AA-FE576429B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Benchmark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F23AFD-6648-EA84-3253-1DFE6B6E6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32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93761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5C95C-F682-75D9-936F-8C5F0349A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D7EAA4-9CDC-B2BB-EF45-CA5BA44CD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0C9E7B-3922-BE26-F4B2-AFCB4CA92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9DFAE6-161A-A4BE-7CB0-469765FED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33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255186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B6B66-EA16-393E-D649-ECE3DAA3C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DE49C4-90EF-5166-4C1A-9382168F0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825D7A-0599-1C07-814C-A41FF092A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C85366-3C1F-D144-01F0-9D1B16346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34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24151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DC958-99B1-6008-E968-5675195C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D29B25-FF66-20C2-2923-B71A0B117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F85047-27ED-6AEC-6EAA-143C72960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4E9897-B7B0-D253-44B7-D67E7718D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35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885185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7B0D3-EA72-A8CC-FFB0-5AC45D178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F154AC-81FC-DF21-4753-0C96C4F2B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16A16B-05BB-8D24-578A-40EE403C8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7035D6-5C32-B87D-0047-3073FA859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36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221699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8DF54-FB44-AB39-6C04-EFF6F77CB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EE816D-2B5E-BC32-8F78-7383775EF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B98A2-18E8-5BFF-04B3-BA3D96217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CC6493-B82F-BEF6-B516-85C8473C0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5E9EC-E196-5942-B4EF-DDB286818217}" type="slidenum">
              <a:rPr kumimoji="1" lang="ko-KR" altLang="en-US" smtClean="0"/>
              <a:t>37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3913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7095A0-9B91-883D-A809-1A700A443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39C14B-68C5-76C4-CA28-7A48E7F8F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C7AAAF-B880-BA4C-04A1-F7E242E11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5B61-B52E-EF43-B5E7-7E28EBD283FF}" type="datetime1">
              <a:rPr kumimoji="1" lang="ko-KR" altLang="en-US" smtClean="0"/>
              <a:t>2026. 5. 29.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C92233-4E61-283D-3C13-38558D2C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R"/>
              <a:t>Taewook Ham (KAIST)</a:t>
            </a:r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DBD1F4-E247-E8E7-F04F-6FF66D8E9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8992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0921E-369A-1E5B-6812-17CB4F6AC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E8E355-76F0-89CE-1E33-83B8AD72A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3D7DEA-EBEC-5EDF-513B-75D656041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B450-C397-E04B-895B-6B854BF80B96}" type="datetime1">
              <a:rPr kumimoji="1" lang="ko-KR" altLang="en-US" smtClean="0"/>
              <a:t>2026. 5. 29.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E182E-E935-373C-CE0C-F5494CE41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R"/>
              <a:t>Taewook Ham (KAIST)</a:t>
            </a:r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410298-2640-5164-03D4-5578527E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68773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0C62E-8B96-C347-19F0-E78D1BADC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B47899-7206-587C-96B5-5D1224B7E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E33603-AA6E-8C39-D0CA-E5C6E52B7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9F6F-46D2-8D4F-A05D-9D31D2459FC6}" type="datetime1">
              <a:rPr kumimoji="1" lang="ko-KR" altLang="en-US" smtClean="0"/>
              <a:t>2026. 5. 29.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1FCB4B-D9CC-296C-8D4C-18DF5C362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R"/>
              <a:t>Taewook Ham (KAIST)</a:t>
            </a:r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9EAD5E-86ED-CEE0-AF0A-58CBC293B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6601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1157C-8F06-FA07-0D79-A24CDB32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213F61-97E8-5598-DE2B-983DC3681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E3F8D7-8005-E9DB-2573-CAF5F3208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5EFDAA-2CAA-1862-4125-180887ECA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FC32E-D611-FC4D-9D0C-988BA020DDBD}" type="datetime1">
              <a:rPr kumimoji="1" lang="ko-KR" altLang="en-US" smtClean="0"/>
              <a:t>2026. 5. 29.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AC3110-1006-9373-3786-55408D7B7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R"/>
              <a:t>Taewook Ham (KAIST)</a:t>
            </a:r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4243A7-4584-3623-155C-4446BAD5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4887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B6A2B-5D4E-4CF5-6FC1-DAA0EFF60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500E5E-626D-45BF-2E84-39520F3F7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5EBAA6-974B-77AA-E88F-5C4FA7C54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55949D-9B9B-04D6-DFBA-5CEE62C3E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656EF2-6D14-705E-9A33-029EB58AA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C9F07AE-5C59-91BD-E888-CD75AF19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2981-3EE4-EF45-8FB9-B2DF5612FA7E}" type="datetime1">
              <a:rPr kumimoji="1" lang="ko-KR" altLang="en-US" smtClean="0"/>
              <a:t>2026. 5. 29.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BFA84-3755-50F6-4C4A-BCC303F31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R"/>
              <a:t>Taewook Ham (KAIST)</a:t>
            </a:r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E07FE2-D871-20F4-9149-5EC79170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57068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A1675-258D-397A-D894-F489FF19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386F1A-1896-02F0-4781-596295500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6D268-6BD2-084F-874A-C995F6A8D69B}" type="datetime1">
              <a:rPr kumimoji="1" lang="ko-KR" altLang="en-US" smtClean="0"/>
              <a:t>2026. 5. 29.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9E66DD-9A25-4E7B-D708-D2B33D5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R"/>
              <a:t>Taewook Ham (KAIST)</a:t>
            </a:r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984C26-34AF-B1A4-4CF2-36DC61C6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6302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F3D7F34-E6F2-0A83-9267-8B29EC615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EC8D5-7CDB-514E-8E08-B6262E6BC218}" type="datetime1">
              <a:rPr kumimoji="1" lang="ko-KR" altLang="en-US" smtClean="0"/>
              <a:t>2026. 5. 29.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22757EF-9093-FFAE-6549-A6DB6CF2B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R"/>
              <a:t>Taewook Ham (KAIST)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042116-C047-E231-D7E3-17BF3D39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745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F5100-4256-43F2-D8DE-22FA8D23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7A3305-973D-6A2E-00C7-D38ED9EA7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C4F7D5-7252-B015-1517-4AF699F6D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2024E8-5F63-0CEC-D06C-F881CCA9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2EB42-0E7D-8141-A141-CCF17B154748}" type="datetime1">
              <a:rPr kumimoji="1" lang="ko-KR" altLang="en-US" smtClean="0"/>
              <a:t>2026. 5. 29.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3F6A6D-78DA-BD40-8B1A-499F2423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R"/>
              <a:t>Taewook Ham (KAIST)</a:t>
            </a:r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A78914-D2AD-2B7A-B7C1-2353501C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4154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BB92D2-10AA-1EFC-F3B4-A864ACBB9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330F0C-0B6C-4698-124C-9C4252791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B0F3B4-7672-485D-F3E1-2AC19BC9C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83AFE4-0EA4-227F-415D-15C64FE3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6BA28-519A-5542-B14E-584FB1AC0FAC}" type="datetime1">
              <a:rPr kumimoji="1" lang="ko-KR" altLang="en-US" smtClean="0"/>
              <a:t>2026. 5. 29.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665544-1BA2-7D08-773C-42E5627D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R"/>
              <a:t>Taewook Ham (KAIST)</a:t>
            </a:r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F1F068-E369-36DB-D38F-48C46982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9966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D6209-C99A-B649-81B2-0EE2D4C5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ED8A49-35EA-8C15-57EC-0CBB23BA3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700246-8699-18E9-D5DE-05F3D875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0E946-B5D4-074B-BD50-1299186AD1EA}" type="datetime1">
              <a:rPr kumimoji="1" lang="ko-KR" altLang="en-US" smtClean="0"/>
              <a:t>2026. 5. 29.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8B68C7-F00D-AB4F-1C7D-F1789087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R"/>
              <a:t>Taewook Ham (KAIST)</a:t>
            </a:r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AE0B48-12A5-1F9E-11B1-00BCBADF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467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B551F8-44F1-69FC-73D0-666A33139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DE6884-B941-7BC4-72C7-D97774AC2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86A4FA-246D-67BF-375E-4AB1F8C5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AF39-F321-9E47-A93A-4C8BFF9A0378}" type="datetime1">
              <a:rPr kumimoji="1" lang="ko-KR" altLang="en-US" smtClean="0"/>
              <a:t>2026. 5. 29.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C512FA-C891-44A9-FA38-EEA2A0B49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R"/>
              <a:t>Taewook Ham (KAIST)</a:t>
            </a:r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5E608-880D-5576-6CCC-6CB43523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8213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5D4AF39-AE84-BBFD-0FD0-1453F58F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26D3E4-A6BC-DA99-A359-7EBFC9171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74505-EEE6-1E30-B1F0-0A36CD37D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43FCC-AE91-4A41-8572-8FD5A6E304DC}" type="datetime1">
              <a:rPr kumimoji="1" lang="ko-KR" altLang="en-US" smtClean="0"/>
              <a:t>2026. 5. 29.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86CBC6-DB5D-27BB-46D2-D6D8B2894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" altLang="ko-KR"/>
              <a:t>Taewook Ham (KAIST)</a:t>
            </a:r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AFE1B2-AE3D-8D5A-641A-C7B29FAC93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EEAB3-BB8D-7A4F-9AF5-EBD2A3FA9A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64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hyperlink" Target="https://colab.research.google.com/drive/1sBQxEqTb7n4HHn0JIjyVX1_AeGwVcQV-#scrollTo=LTORudewDZpe" TargetMode="External"/><Relationship Id="rId4" Type="http://schemas.openxmlformats.org/officeDocument/2006/relationships/hyperlink" Target="https://kumorfm.ai/chat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posts/leskovec_kumoai-trains-foundation-model-for-relational-activity-7365853971019612160-es7y/" TargetMode="External"/><Relationship Id="rId3" Type="http://schemas.openxmlformats.org/officeDocument/2006/relationships/hyperlink" Target="https://kumo.ai/" TargetMode="External"/><Relationship Id="rId7" Type="http://schemas.openxmlformats.org/officeDocument/2006/relationships/hyperlink" Target="https://research.google/blog/graph-foundation-models-for-relational-data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umo.ai/company/news/kumo-relational-foundation-model/" TargetMode="External"/><Relationship Id="rId5" Type="http://schemas.openxmlformats.org/officeDocument/2006/relationships/hyperlink" Target="https://relbench.stanford.edu/" TargetMode="External"/><Relationship Id="rId4" Type="http://schemas.openxmlformats.org/officeDocument/2006/relationships/hyperlink" Target="https://kumorfm.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F2402-0E02-8E55-FAC0-AD145162A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800" dirty="0">
                <a:latin typeface="Calibri" panose="020F0502020204030204" pitchFamily="34" charset="0"/>
                <a:cs typeface="Calibri" panose="020F0502020204030204" pitchFamily="34" charset="0"/>
              </a:rPr>
              <a:t>Relational Foundation Models</a:t>
            </a:r>
            <a:br>
              <a:rPr kumimoji="1" lang="en-US" altLang="ko-KR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altLang="ko-KR" sz="48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1" lang="en-US" altLang="ko-KR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KumoRFM</a:t>
            </a:r>
            <a:r>
              <a:rPr kumimoji="1" lang="en-US" altLang="ko-KR" sz="4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1" lang="ko-KR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1EA604-58D5-7E9F-DE96-B543DDFE0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928607"/>
          </a:xfrm>
        </p:spPr>
        <p:txBody>
          <a:bodyPr>
            <a:normAutofit/>
          </a:bodyPr>
          <a:lstStyle/>
          <a:p>
            <a:endParaRPr kumimoji="1"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Data AI Lab</a:t>
            </a:r>
          </a:p>
          <a:p>
            <a:r>
              <a:rPr kumimoji="1" lang="en-US" altLang="ko-KR" dirty="0" err="1">
                <a:latin typeface="Calibri" panose="020F0502020204030204" pitchFamily="34" charset="0"/>
                <a:cs typeface="Calibri" panose="020F0502020204030204" pitchFamily="34" charset="0"/>
              </a:rPr>
              <a:t>Taewook</a:t>
            </a: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 Ham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E29E0C-2399-E4A4-346A-0275E5AF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08405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958EC-E29C-232E-FD01-DFBC4CBB8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D4DDC-79B0-18E0-17A0-06D296AAB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1FEB8-C1C1-4002-67E5-BDE65D7E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2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F07B2348-37BB-F678-632D-A49B2176B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Introduction to Relational Database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Deep Learning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Graph Transformer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Foundation Model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Benchmark for RDL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Toy example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CB3158-089C-9A2B-9ED8-4CB5ADCE7D6F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0891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8FB4D-3577-09BC-946A-8FAF54CF9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2D37-9437-454C-301E-A4A06031E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Relational Data(base)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61422-845D-7402-6DCC-24AD5520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3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9248DD7E-556B-D8A8-3DBE-7B2D11F31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Most real-world enterprise data lives in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database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, not in graphs or text.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E-commerce (users, products, transactions)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Finance (accounts, transactions, merchants)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Healthcare (patients, doctors, treatments)</a:t>
            </a:r>
          </a:p>
        </p:txBody>
      </p:sp>
      <p:pic>
        <p:nvPicPr>
          <p:cNvPr id="9" name="그림 8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63425E-4D11-F2D1-8E68-59D7F16175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837"/>
          <a:stretch>
            <a:fillRect/>
          </a:stretch>
        </p:blipFill>
        <p:spPr>
          <a:xfrm>
            <a:off x="8546310" y="3745370"/>
            <a:ext cx="2718881" cy="233919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1339B72-0781-E580-B304-B96CBD73ADFF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71B93A-164C-7B62-A0F9-3ABEE20202E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17603" y="4193069"/>
            <a:ext cx="1636300" cy="1636300"/>
          </a:xfrm>
          <a:prstGeom prst="rect">
            <a:avLst/>
          </a:prstGeom>
        </p:spPr>
      </p:pic>
      <p:pic>
        <p:nvPicPr>
          <p:cNvPr id="8" name="그림 7" descr="토스 브랜드 리소스 센터">
            <a:extLst>
              <a:ext uri="{FF2B5EF4-FFF2-40B4-BE49-F238E27FC236}">
                <a16:creationId xmlns:a16="http://schemas.microsoft.com/office/drawing/2014/main" id="{0650517E-997E-3A71-E439-13732347F29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65678" y="4028192"/>
            <a:ext cx="2877153" cy="1966054"/>
          </a:xfrm>
          <a:prstGeom prst="rect">
            <a:avLst/>
          </a:prstGeom>
        </p:spPr>
      </p:pic>
      <p:pic>
        <p:nvPicPr>
          <p:cNvPr id="14" name="그림 13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42202C-605B-3132-53DC-436B06CD8D88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53024" y="4458769"/>
            <a:ext cx="3098800" cy="1104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48813E-8848-4F63-0EFE-E2DED33DE283}"/>
              </a:ext>
            </a:extLst>
          </p:cNvPr>
          <p:cNvSpPr txBox="1"/>
          <p:nvPr/>
        </p:nvSpPr>
        <p:spPr>
          <a:xfrm>
            <a:off x="8038573" y="3493236"/>
            <a:ext cx="3887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 err="1">
                <a:latin typeface="Calibri" panose="020F0502020204030204" pitchFamily="34" charset="0"/>
                <a:cs typeface="Calibri" panose="020F0502020204030204" pitchFamily="34" charset="0"/>
              </a:rPr>
              <a:t>Histroy</a:t>
            </a: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 in Multiple Table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087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1C4E4-278E-A5FF-7AE9-FA8390BF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19752-9FDC-18BB-0106-8B465B427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Basic Terminologies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BFA8A-D70C-73D0-10BF-4191FD992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4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DD4270F2-AA29-4797-9524-67A90A55B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Tables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 row can be treated as </a:t>
            </a: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entity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 column is an </a:t>
            </a: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attribute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of a relational table.</a:t>
            </a:r>
          </a:p>
          <a:p>
            <a:pPr>
              <a:lnSpc>
                <a:spcPct val="10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Keys</a:t>
            </a:r>
          </a:p>
          <a:p>
            <a:pPr lvl="1">
              <a:lnSpc>
                <a:spcPct val="100000"/>
              </a:lnSpc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Primary key</a:t>
            </a: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>
              <a:lnSpc>
                <a:spcPct val="100000"/>
              </a:lnSpc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Foreign key</a:t>
            </a:r>
          </a:p>
          <a:p>
            <a:pPr>
              <a:lnSpc>
                <a:spcPct val="10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Relations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Arrows as Primary-Foreign Key</a:t>
            </a:r>
          </a:p>
          <a:p>
            <a:pPr>
              <a:lnSpc>
                <a:spcPct val="10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Timestamps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Recorded when an entity or event occurred.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34E6C6-3D62-55E4-8D79-D0CB168FED29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8" name="그림 7" descr="example of relational table | Download Scientific Diagram">
            <a:extLst>
              <a:ext uri="{FF2B5EF4-FFF2-40B4-BE49-F238E27FC236}">
                <a16:creationId xmlns:a16="http://schemas.microsoft.com/office/drawing/2014/main" id="{F9374676-6A45-61A3-655F-80AC8D8C1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510" y="2690043"/>
            <a:ext cx="4809159" cy="294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19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60502-54B3-A909-EB4A-0126A06EE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5522-2961-D836-9CE6-39401403C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Recent History of Relation Deep Learning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7FA40-675E-1826-2FF9-0AD925001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5</a:t>
            </a:fld>
            <a:endParaRPr kumimoji="1"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5F6C88AF-ACC1-8594-7619-6DF5B0DAE6FC}"/>
              </a:ext>
            </a:extLst>
          </p:cNvPr>
          <p:cNvCxnSpPr>
            <a:cxnSpLocks/>
          </p:cNvCxnSpPr>
          <p:nvPr/>
        </p:nvCxnSpPr>
        <p:spPr>
          <a:xfrm>
            <a:off x="539147" y="3714998"/>
            <a:ext cx="11291609" cy="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85A37F-7949-AD66-9C01-44A08BB01665}"/>
              </a:ext>
            </a:extLst>
          </p:cNvPr>
          <p:cNvSpPr txBox="1"/>
          <p:nvPr/>
        </p:nvSpPr>
        <p:spPr>
          <a:xfrm>
            <a:off x="2249466" y="5002762"/>
            <a:ext cx="2999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RELBench</a:t>
            </a:r>
            <a:br>
              <a:rPr kumimoji="1"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2024(NeurIPS2024)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A5FD-CEC6-E829-9F68-625E1F925041}"/>
              </a:ext>
            </a:extLst>
          </p:cNvPr>
          <p:cNvSpPr txBox="1"/>
          <p:nvPr/>
        </p:nvSpPr>
        <p:spPr>
          <a:xfrm>
            <a:off x="3778977" y="1955388"/>
            <a:ext cx="33378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Relational Graph Transformer</a:t>
            </a:r>
            <a:endParaRPr kumimoji="1" lang="ko-KR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kumimoji="1"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(2025(ICLR 2026))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084C85-C0F1-FC72-F656-8C01C6BADA01}"/>
              </a:ext>
            </a:extLst>
          </p:cNvPr>
          <p:cNvSpPr txBox="1"/>
          <p:nvPr/>
        </p:nvSpPr>
        <p:spPr>
          <a:xfrm>
            <a:off x="6051804" y="5006942"/>
            <a:ext cx="25535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KumoRFM</a:t>
            </a:r>
            <a:endParaRPr kumimoji="1"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kumimoji="1"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(2025(From Kumo))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A2856-7D30-F17F-87B2-FA943509541C}"/>
              </a:ext>
            </a:extLst>
          </p:cNvPr>
          <p:cNvSpPr txBox="1"/>
          <p:nvPr/>
        </p:nvSpPr>
        <p:spPr>
          <a:xfrm>
            <a:off x="7461427" y="2175129"/>
            <a:ext cx="2999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Relational Transformer</a:t>
            </a:r>
          </a:p>
          <a:p>
            <a:pPr algn="ctr"/>
            <a:r>
              <a:rPr kumimoji="1"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(2025(ICLR 2026))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C2752C-31E8-F8D2-C2FD-1AFADE78C20A}"/>
              </a:ext>
            </a:extLst>
          </p:cNvPr>
          <p:cNvSpPr txBox="1"/>
          <p:nvPr/>
        </p:nvSpPr>
        <p:spPr>
          <a:xfrm>
            <a:off x="351858" y="2261074"/>
            <a:ext cx="2999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Relational Deep Learning</a:t>
            </a:r>
            <a:br>
              <a:rPr kumimoji="1"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(2023(ICML 2024))</a:t>
            </a:r>
            <a:endParaRPr kumimoji="1"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2F7F5CD-8528-2FAF-A688-91AF9A5958C4}"/>
              </a:ext>
            </a:extLst>
          </p:cNvPr>
          <p:cNvGrpSpPr/>
          <p:nvPr/>
        </p:nvGrpSpPr>
        <p:grpSpPr>
          <a:xfrm>
            <a:off x="1739272" y="2988709"/>
            <a:ext cx="67770" cy="705467"/>
            <a:chOff x="1926561" y="2988709"/>
            <a:chExt cx="67770" cy="705467"/>
          </a:xfrm>
        </p:grpSpPr>
        <p:cxnSp>
          <p:nvCxnSpPr>
            <p:cNvPr id="20" name="직선 연결선[R] 19">
              <a:extLst>
                <a:ext uri="{FF2B5EF4-FFF2-40B4-BE49-F238E27FC236}">
                  <a16:creationId xmlns:a16="http://schemas.microsoft.com/office/drawing/2014/main" id="{751BE77F-735E-D866-8871-0CB77C6E5F4E}"/>
                </a:ext>
              </a:extLst>
            </p:cNvPr>
            <p:cNvCxnSpPr/>
            <p:nvPr/>
          </p:nvCxnSpPr>
          <p:spPr>
            <a:xfrm flipV="1">
              <a:off x="1955986" y="3028208"/>
              <a:ext cx="0" cy="66596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53418B4B-D6CD-A9F7-890D-BBE7341A55A7}"/>
                </a:ext>
              </a:extLst>
            </p:cNvPr>
            <p:cNvSpPr/>
            <p:nvPr/>
          </p:nvSpPr>
          <p:spPr>
            <a:xfrm>
              <a:off x="1926561" y="2988709"/>
              <a:ext cx="67770" cy="6734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AA11FC6D-EBF4-434E-A18A-13A9532BA1CA}"/>
              </a:ext>
            </a:extLst>
          </p:cNvPr>
          <p:cNvGrpSpPr/>
          <p:nvPr/>
        </p:nvGrpSpPr>
        <p:grpSpPr>
          <a:xfrm>
            <a:off x="3749003" y="3714998"/>
            <a:ext cx="67770" cy="1267754"/>
            <a:chOff x="3896144" y="3714998"/>
            <a:chExt cx="67770" cy="1267754"/>
          </a:xfrm>
        </p:grpSpPr>
        <p:cxnSp>
          <p:nvCxnSpPr>
            <p:cNvPr id="16" name="직선 연결선[R] 15">
              <a:extLst>
                <a:ext uri="{FF2B5EF4-FFF2-40B4-BE49-F238E27FC236}">
                  <a16:creationId xmlns:a16="http://schemas.microsoft.com/office/drawing/2014/main" id="{644A4104-9B25-240C-3C95-277061710E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0029" y="3714998"/>
              <a:ext cx="0" cy="121326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484B78DB-F1D1-B3DF-0284-E29B4B886800}"/>
                </a:ext>
              </a:extLst>
            </p:cNvPr>
            <p:cNvSpPr/>
            <p:nvPr/>
          </p:nvSpPr>
          <p:spPr>
            <a:xfrm>
              <a:off x="3896144" y="4915410"/>
              <a:ext cx="67770" cy="6734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6553974-A047-243D-E469-5B69542F5954}"/>
              </a:ext>
            </a:extLst>
          </p:cNvPr>
          <p:cNvGrpSpPr/>
          <p:nvPr/>
        </p:nvGrpSpPr>
        <p:grpSpPr>
          <a:xfrm>
            <a:off x="5402723" y="2747582"/>
            <a:ext cx="67770" cy="946594"/>
            <a:chOff x="5853779" y="2747582"/>
            <a:chExt cx="67770" cy="946594"/>
          </a:xfrm>
        </p:grpSpPr>
        <p:cxnSp>
          <p:nvCxnSpPr>
            <p:cNvPr id="15" name="직선 연결선[R] 14">
              <a:extLst>
                <a:ext uri="{FF2B5EF4-FFF2-40B4-BE49-F238E27FC236}">
                  <a16:creationId xmlns:a16="http://schemas.microsoft.com/office/drawing/2014/main" id="{6F1D0ADC-93B6-DBD7-0C5C-82C15CDC2792}"/>
                </a:ext>
              </a:extLst>
            </p:cNvPr>
            <p:cNvCxnSpPr>
              <a:cxnSpLocks/>
              <a:endCxn id="27" idx="4"/>
            </p:cNvCxnSpPr>
            <p:nvPr/>
          </p:nvCxnSpPr>
          <p:spPr>
            <a:xfrm flipH="1" flipV="1">
              <a:off x="5887664" y="2814924"/>
              <a:ext cx="1" cy="8792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0F66B8F-68D0-0454-A8CF-20E13C9F9D63}"/>
                </a:ext>
              </a:extLst>
            </p:cNvPr>
            <p:cNvSpPr/>
            <p:nvPr/>
          </p:nvSpPr>
          <p:spPr>
            <a:xfrm>
              <a:off x="5853779" y="2747582"/>
              <a:ext cx="67770" cy="6734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324A7D6-0A35-D13B-7D3B-8B9611C373F6}"/>
              </a:ext>
            </a:extLst>
          </p:cNvPr>
          <p:cNvGrpSpPr/>
          <p:nvPr/>
        </p:nvGrpSpPr>
        <p:grpSpPr>
          <a:xfrm>
            <a:off x="7260831" y="3701407"/>
            <a:ext cx="67770" cy="1280041"/>
            <a:chOff x="8144691" y="3701407"/>
            <a:chExt cx="67770" cy="1280041"/>
          </a:xfrm>
        </p:grpSpPr>
        <p:cxnSp>
          <p:nvCxnSpPr>
            <p:cNvPr id="17" name="직선 연결선[R] 16">
              <a:extLst>
                <a:ext uri="{FF2B5EF4-FFF2-40B4-BE49-F238E27FC236}">
                  <a16:creationId xmlns:a16="http://schemas.microsoft.com/office/drawing/2014/main" id="{A32F6183-465F-ED6E-7394-47889A4062A2}"/>
                </a:ext>
              </a:extLst>
            </p:cNvPr>
            <p:cNvCxnSpPr>
              <a:cxnSpLocks/>
              <a:stCxn id="28" idx="4"/>
            </p:cNvCxnSpPr>
            <p:nvPr/>
          </p:nvCxnSpPr>
          <p:spPr>
            <a:xfrm flipV="1">
              <a:off x="8178576" y="3701407"/>
              <a:ext cx="0" cy="12800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E00B17D8-6AC2-B3EE-13C5-487AF10A2650}"/>
                </a:ext>
              </a:extLst>
            </p:cNvPr>
            <p:cNvSpPr/>
            <p:nvPr/>
          </p:nvSpPr>
          <p:spPr>
            <a:xfrm>
              <a:off x="8144691" y="4914106"/>
              <a:ext cx="67770" cy="6734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CFD1ADE-0C38-250C-E4D6-3217A0398AFF}"/>
              </a:ext>
            </a:extLst>
          </p:cNvPr>
          <p:cNvGrpSpPr/>
          <p:nvPr/>
        </p:nvGrpSpPr>
        <p:grpSpPr>
          <a:xfrm>
            <a:off x="8960964" y="2857810"/>
            <a:ext cx="67770" cy="857188"/>
            <a:chOff x="10029601" y="2857810"/>
            <a:chExt cx="67770" cy="857188"/>
          </a:xfrm>
        </p:grpSpPr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5996DE19-3746-1EFB-A3A9-2527CB34BFA1}"/>
                </a:ext>
              </a:extLst>
            </p:cNvPr>
            <p:cNvCxnSpPr>
              <a:cxnSpLocks/>
              <a:endCxn id="29" idx="4"/>
            </p:cNvCxnSpPr>
            <p:nvPr/>
          </p:nvCxnSpPr>
          <p:spPr>
            <a:xfrm flipV="1">
              <a:off x="10063486" y="2925152"/>
              <a:ext cx="0" cy="7898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74B9A461-C878-AFA5-FEFE-E445BEE56511}"/>
                </a:ext>
              </a:extLst>
            </p:cNvPr>
            <p:cNvSpPr/>
            <p:nvPr/>
          </p:nvSpPr>
          <p:spPr>
            <a:xfrm>
              <a:off x="10029601" y="2857810"/>
              <a:ext cx="67770" cy="6734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42F9789-8258-979C-FD7F-8FB96C1F91E4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3" name="그림 32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FC9686-D79B-D428-3364-33D5E094B8B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75754" y="3110803"/>
            <a:ext cx="1784112" cy="483973"/>
          </a:xfrm>
          <a:prstGeom prst="rect">
            <a:avLst/>
          </a:prstGeom>
        </p:spPr>
      </p:pic>
      <p:pic>
        <p:nvPicPr>
          <p:cNvPr id="36" name="그림 35" descr="스크린샷, 텍스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2DC087-0034-0373-3623-19BD233BE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51" y="3761518"/>
            <a:ext cx="2308037" cy="996596"/>
          </a:xfrm>
          <a:prstGeom prst="rect">
            <a:avLst/>
          </a:prstGeom>
        </p:spPr>
      </p:pic>
      <p:pic>
        <p:nvPicPr>
          <p:cNvPr id="43" name="그림 42" descr="폰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6B8B2F-581C-BF03-DDDB-6DA3FCC5E24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3F4F6"/>
              </a:clrFrom>
              <a:clrTo>
                <a:srgbClr val="F3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54761" y="3002275"/>
            <a:ext cx="1812139" cy="664076"/>
          </a:xfrm>
          <a:prstGeom prst="rect">
            <a:avLst/>
          </a:prstGeom>
        </p:spPr>
      </p:pic>
      <p:pic>
        <p:nvPicPr>
          <p:cNvPr id="45" name="그림 44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F7E2E2-EA24-232A-5BD8-6FD728383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4819" y="3761518"/>
            <a:ext cx="1700004" cy="1141858"/>
          </a:xfrm>
          <a:prstGeom prst="rect">
            <a:avLst/>
          </a:prstGeom>
        </p:spPr>
      </p:pic>
      <p:pic>
        <p:nvPicPr>
          <p:cNvPr id="47" name="그림 46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290466-5C59-1146-E802-3AF2CB45CE9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3016"/>
          <a:stretch>
            <a:fillRect/>
          </a:stretch>
        </p:blipFill>
        <p:spPr>
          <a:xfrm>
            <a:off x="530692" y="3785186"/>
            <a:ext cx="2552699" cy="654542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5E8C6582-110B-A9BB-D672-D81F6172F85A}"/>
              </a:ext>
            </a:extLst>
          </p:cNvPr>
          <p:cNvGrpSpPr/>
          <p:nvPr/>
        </p:nvGrpSpPr>
        <p:grpSpPr>
          <a:xfrm>
            <a:off x="10875590" y="3733925"/>
            <a:ext cx="67770" cy="1280041"/>
            <a:chOff x="8144691" y="3701407"/>
            <a:chExt cx="67770" cy="1280041"/>
          </a:xfrm>
        </p:grpSpPr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718AD3BD-92F3-1805-3A2C-F4730ADDAD60}"/>
                </a:ext>
              </a:extLst>
            </p:cNvPr>
            <p:cNvCxnSpPr>
              <a:cxnSpLocks/>
              <a:stCxn id="22" idx="4"/>
            </p:cNvCxnSpPr>
            <p:nvPr/>
          </p:nvCxnSpPr>
          <p:spPr>
            <a:xfrm flipV="1">
              <a:off x="8178576" y="3701407"/>
              <a:ext cx="0" cy="12800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0FF76FA3-EB01-39BD-922E-5330348455D3}"/>
                </a:ext>
              </a:extLst>
            </p:cNvPr>
            <p:cNvSpPr/>
            <p:nvPr/>
          </p:nvSpPr>
          <p:spPr>
            <a:xfrm>
              <a:off x="8144691" y="4914106"/>
              <a:ext cx="67770" cy="6734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711B380-6511-41C0-E810-2D747E669643}"/>
              </a:ext>
            </a:extLst>
          </p:cNvPr>
          <p:cNvSpPr txBox="1"/>
          <p:nvPr/>
        </p:nvSpPr>
        <p:spPr>
          <a:xfrm>
            <a:off x="9529746" y="5002762"/>
            <a:ext cx="25535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KumoRFM-2</a:t>
            </a:r>
          </a:p>
          <a:p>
            <a:pPr algn="ctr"/>
            <a:r>
              <a:rPr kumimoji="1"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(2026)</a:t>
            </a:r>
          </a:p>
        </p:txBody>
      </p:sp>
      <p:pic>
        <p:nvPicPr>
          <p:cNvPr id="31" name="그림 30" descr="폰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65E803-BA3D-1E8F-8E35-05AF486BDC3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3F4F6"/>
              </a:clrFrom>
              <a:clrTo>
                <a:srgbClr val="F3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69520" y="2966968"/>
            <a:ext cx="1812139" cy="66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02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D07BD-90C7-7EEA-1E4A-8E83180CC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B4F5-4E2D-9393-1EA0-FDE01D0C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EADE5-E5F3-EB29-A9FC-0376D3C1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6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8A2DD29A-1075-3BE8-45E0-17366A9E7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Introduction to Relational Database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Deep Learning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Graph Transformer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Foundation Model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Benchmark for RDL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Toy example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8D9B0D-8869-315E-2F5B-ADA6156768E8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925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A8000-29AA-2F98-47FD-74BCA57DC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AF678-3D54-E576-5EFE-52D72B835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Graphs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4">
                <a:extLst>
                  <a:ext uri="{FF2B5EF4-FFF2-40B4-BE49-F238E27FC236}">
                    <a16:creationId xmlns:a16="http://schemas.microsoft.com/office/drawing/2014/main" id="{9FF1B7A2-F11D-97E2-A1E2-7065391093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Data structure that represents connections and relationships.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20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A graph consists of nodes (e.g., users) and edges (e.g., friendship).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20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A graph is represented as a sparse adjacency matrix.</a:t>
                </a:r>
              </a:p>
              <a:p>
                <a:pPr lvl="2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𝑖𝑗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=1</m:t>
                    </m:r>
                  </m:oMath>
                </a14:m>
                <a:r>
                  <a:rPr lang="en-US" altLang="ko-KR" sz="16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if nodes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altLang="ko-KR" sz="16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altLang="ko-KR" sz="16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are connected;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𝑖𝑗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0</m:t>
                    </m:r>
                  </m:oMath>
                </a14:m>
                <a:r>
                  <a:rPr lang="en-US" altLang="ko-KR" sz="16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otherwise.</a:t>
                </a:r>
              </a:p>
              <a:p>
                <a:pPr lvl="2">
                  <a:lnSpc>
                    <a:spcPct val="100000"/>
                  </a:lnSpc>
                </a:pPr>
                <a:endPara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endParaRPr>
              </a:p>
              <a:p>
                <a:pPr lvl="2">
                  <a:lnSpc>
                    <a:spcPct val="100000"/>
                  </a:lnSpc>
                </a:pPr>
                <a:endPara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6" name="내용 개체 틀 4">
                <a:extLst>
                  <a:ext uri="{FF2B5EF4-FFF2-40B4-BE49-F238E27FC236}">
                    <a16:creationId xmlns:a16="http://schemas.microsoft.com/office/drawing/2014/main" id="{9FF1B7A2-F11D-97E2-A1E2-7065391093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844" t="-11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5A60A0B0-D58C-5BD7-701B-FD8E80C1FB2D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0106F0-A8BC-4740-3026-BBE57E317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3521333"/>
            <a:ext cx="6070600" cy="2311400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F265261-73F3-AC5D-8010-9BCA1C8F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1662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6254E-50B5-7534-E9AF-F7B7F089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F5FD-A453-35A0-6BBF-A5659FF67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Relational Entity Graph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83775-C31F-E91D-C9FC-05993C24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8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0DC3A2C2-1B48-58A2-F798-0A1D018CC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 key is to represent relational database as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temporal, heterogeneous graphs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Schema graph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defines how tables are related (table-level structure). 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entity graph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instantiates this schema at the entity (row) level.</a:t>
            </a:r>
          </a:p>
          <a:p>
            <a:pPr lvl="1">
              <a:lnSpc>
                <a:spcPct val="100000"/>
              </a:lnSpc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Each row becomes a node; PK-FK links become edges.</a:t>
            </a:r>
          </a:p>
        </p:txBody>
      </p:sp>
      <p:pic>
        <p:nvPicPr>
          <p:cNvPr id="3" name="GFM4RelationalData-2">
            <a:hlinkClick r:id="" action="ppaction://media"/>
            <a:extLst>
              <a:ext uri="{FF2B5EF4-FFF2-40B4-BE49-F238E27FC236}">
                <a16:creationId xmlns:a16="http://schemas.microsoft.com/office/drawing/2014/main" id="{EB5B9A2A-071C-398B-9B58-68D068F827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45580" y="3825472"/>
            <a:ext cx="4130040" cy="2315910"/>
          </a:xfrm>
          <a:prstGeom prst="rect">
            <a:avLst/>
          </a:prstGeom>
        </p:spPr>
      </p:pic>
      <p:pic>
        <p:nvPicPr>
          <p:cNvPr id="7" name="그림 6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14ABFA-D075-C4CB-42B5-93FCCDFAC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6608" y="3883493"/>
            <a:ext cx="3595624" cy="22934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045912-FA07-8CC0-0553-0C7BE38EF159}"/>
              </a:ext>
            </a:extLst>
          </p:cNvPr>
          <p:cNvSpPr txBox="1"/>
          <p:nvPr/>
        </p:nvSpPr>
        <p:spPr>
          <a:xfrm>
            <a:off x="2750532" y="6223070"/>
            <a:ext cx="174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Schema Graph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E5835-7106-1F4B-660B-A35C868410F3}"/>
              </a:ext>
            </a:extLst>
          </p:cNvPr>
          <p:cNvSpPr txBox="1"/>
          <p:nvPr/>
        </p:nvSpPr>
        <p:spPr>
          <a:xfrm>
            <a:off x="7366579" y="6231075"/>
            <a:ext cx="262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Relational Entity Graph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EDC8E0-515B-D846-74E2-61103A8BD391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4480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9DEA4-C79F-4045-9557-70EACAD85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CDDBC-6F69-A1D0-605E-E5DDC7B0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Training Table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D3235-BCAD-716B-A19D-211171B8C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9</a:t>
            </a:fld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4">
                <a:extLst>
                  <a:ext uri="{FF2B5EF4-FFF2-40B4-BE49-F238E27FC236}">
                    <a16:creationId xmlns:a16="http://schemas.microsoft.com/office/drawing/2014/main" id="{E7FE2377-91DE-C843-7E06-B6AC8A87FF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Key insight</a:t>
                </a:r>
                <a:r>
                  <a:rPr lang="ko-KR" altLang="en-US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</a:t>
                </a:r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for model training is generating </a:t>
                </a:r>
                <a:r>
                  <a:rPr lang="en-US" altLang="ko-KR" sz="2400" b="1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training table</a:t>
                </a:r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𝑇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𝑡𝑟𝑎𝑖𝑛</m:t>
                        </m:r>
                      </m:sub>
                    </m:sSub>
                  </m:oMath>
                </a14:m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20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A training table contains supervision labels </a:t>
                </a:r>
                <a:r>
                  <a:rPr lang="en-US" altLang="ko-KR" sz="2000" b="1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automatically computed</a:t>
                </a:r>
                <a:r>
                  <a:rPr lang="en-US" altLang="ko-KR" sz="20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based on historical data in the relational database.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20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𝑇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𝑡𝑟𝑎𝑖𝑛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is linked to the main relational database.</a:t>
                </a:r>
              </a:p>
            </p:txBody>
          </p:sp>
        </mc:Choice>
        <mc:Fallback xmlns="">
          <p:sp>
            <p:nvSpPr>
              <p:cNvPr id="6" name="내용 개체 틀 4">
                <a:extLst>
                  <a:ext uri="{FF2B5EF4-FFF2-40B4-BE49-F238E27FC236}">
                    <a16:creationId xmlns:a16="http://schemas.microsoft.com/office/drawing/2014/main" id="{E7FE2377-91DE-C843-7E06-B6AC8A87FF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844" t="-8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직사각형 6">
            <a:extLst>
              <a:ext uri="{FF2B5EF4-FFF2-40B4-BE49-F238E27FC236}">
                <a16:creationId xmlns:a16="http://schemas.microsoft.com/office/drawing/2014/main" id="{625B4B4D-A810-9A4F-3E7C-AD381B4AE3A9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5" name="그림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055B4F-1840-0CB6-8533-6B3CB62572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719"/>
          <a:stretch>
            <a:fillRect/>
          </a:stretch>
        </p:blipFill>
        <p:spPr>
          <a:xfrm>
            <a:off x="1546380" y="3663356"/>
            <a:ext cx="9099240" cy="17511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56432B-F7AD-60F7-FE62-2C368B2319AE}"/>
              </a:ext>
            </a:extLst>
          </p:cNvPr>
          <p:cNvSpPr txBox="1"/>
          <p:nvPr/>
        </p:nvSpPr>
        <p:spPr>
          <a:xfrm>
            <a:off x="1780565" y="5565160"/>
            <a:ext cx="174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Define Tasks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EF61FE-D84F-F404-018F-40F41F087723}"/>
              </a:ext>
            </a:extLst>
          </p:cNvPr>
          <p:cNvSpPr txBox="1"/>
          <p:nvPr/>
        </p:nvSpPr>
        <p:spPr>
          <a:xfrm>
            <a:off x="4822940" y="5414489"/>
            <a:ext cx="174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Training Table Generation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BDD6F3-8A9A-1669-B4C2-6CF534ECAD14}"/>
              </a:ext>
            </a:extLst>
          </p:cNvPr>
          <p:cNvSpPr txBox="1"/>
          <p:nvPr/>
        </p:nvSpPr>
        <p:spPr>
          <a:xfrm>
            <a:off x="8311425" y="5426661"/>
            <a:ext cx="174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Link to Relational Tables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194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4F84A-1E71-4CCD-7A09-DF98B99E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941F7-05DD-057E-E2DC-85212B876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Time-Consistent Computational Graphs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4EDA1-8FA3-14D7-5A0A-1340F221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10</a:t>
            </a:fld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4">
                <a:extLst>
                  <a:ext uri="{FF2B5EF4-FFF2-40B4-BE49-F238E27FC236}">
                    <a16:creationId xmlns:a16="http://schemas.microsoft.com/office/drawing/2014/main" id="{58C61AC6-1CA5-C519-A7ED-4EDDCCFC4B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ko-KR" sz="2400" b="1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A subgraph is created</a:t>
                </a:r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induced by the set of foreign keys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𝐾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and its timestamp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of a training example in the training 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𝑇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𝑡𝑟𝑎𝑖𝑛</m:t>
                        </m:r>
                      </m:sub>
                    </m:sSub>
                  </m:oMath>
                </a14:m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.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20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The subgraph acts as a </a:t>
                </a:r>
                <a:r>
                  <a:rPr lang="en-US" altLang="ko-KR" sz="2000" b="1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local</a:t>
                </a:r>
                <a:r>
                  <a:rPr lang="en-US" altLang="ko-KR" sz="20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and </a:t>
                </a:r>
                <a:r>
                  <a:rPr lang="en-US" altLang="ko-KR" sz="2000" b="1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time-consistent</a:t>
                </a:r>
                <a:r>
                  <a:rPr lang="en-US" altLang="ko-KR" sz="20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computation graph to predict ground-truth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𝑦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.</a:t>
                </a:r>
              </a:p>
            </p:txBody>
          </p:sp>
        </mc:Choice>
        <mc:Fallback xmlns="">
          <p:sp>
            <p:nvSpPr>
              <p:cNvPr id="6" name="내용 개체 틀 4">
                <a:extLst>
                  <a:ext uri="{FF2B5EF4-FFF2-40B4-BE49-F238E27FC236}">
                    <a16:creationId xmlns:a16="http://schemas.microsoft.com/office/drawing/2014/main" id="{58C61AC6-1CA5-C519-A7ED-4EDDCCFC4B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844" t="-8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직사각형 6">
            <a:extLst>
              <a:ext uri="{FF2B5EF4-FFF2-40B4-BE49-F238E27FC236}">
                <a16:creationId xmlns:a16="http://schemas.microsoft.com/office/drawing/2014/main" id="{67409C9A-E71E-2634-6B47-04D8A109B84F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그림 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01F734-E392-F9DC-C214-8027162083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429" b="10719"/>
          <a:stretch>
            <a:fillRect/>
          </a:stretch>
        </p:blipFill>
        <p:spPr>
          <a:xfrm>
            <a:off x="2043038" y="4193472"/>
            <a:ext cx="3052771" cy="1750040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0F17AC0-BF84-ED30-7AF7-7F4EE01AC9DD}"/>
              </a:ext>
            </a:extLst>
          </p:cNvPr>
          <p:cNvCxnSpPr>
            <a:cxnSpLocks/>
          </p:cNvCxnSpPr>
          <p:nvPr/>
        </p:nvCxnSpPr>
        <p:spPr>
          <a:xfrm>
            <a:off x="5348528" y="5145439"/>
            <a:ext cx="8373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9395239-98A1-9F00-4FC8-7EBD4AA62578}"/>
              </a:ext>
            </a:extLst>
          </p:cNvPr>
          <p:cNvSpPr txBox="1"/>
          <p:nvPr/>
        </p:nvSpPr>
        <p:spPr>
          <a:xfrm>
            <a:off x="2695905" y="6053725"/>
            <a:ext cx="174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Relational Tables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E4EAC7-9F2E-0837-747C-E375C08406DD}"/>
              </a:ext>
            </a:extLst>
          </p:cNvPr>
          <p:cNvSpPr txBox="1"/>
          <p:nvPr/>
        </p:nvSpPr>
        <p:spPr>
          <a:xfrm>
            <a:off x="6582169" y="6052437"/>
            <a:ext cx="2991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Subgraph Sampling of a Training Example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461C6F7-6013-E426-1CF6-7BD862E78F95}"/>
              </a:ext>
            </a:extLst>
          </p:cNvPr>
          <p:cNvGrpSpPr/>
          <p:nvPr/>
        </p:nvGrpSpPr>
        <p:grpSpPr>
          <a:xfrm>
            <a:off x="6360788" y="4062008"/>
            <a:ext cx="3591734" cy="1893983"/>
            <a:chOff x="6295801" y="4248967"/>
            <a:chExt cx="3591734" cy="189398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0533E5F-7968-ADF4-2457-B8CD12023135}"/>
                </a:ext>
              </a:extLst>
            </p:cNvPr>
            <p:cNvSpPr/>
            <p:nvPr/>
          </p:nvSpPr>
          <p:spPr>
            <a:xfrm>
              <a:off x="6517182" y="5194779"/>
              <a:ext cx="288758" cy="276062"/>
            </a:xfrm>
            <a:prstGeom prst="ellipse">
              <a:avLst/>
            </a:prstGeom>
            <a:solidFill>
              <a:srgbClr val="FF3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14A8854-A530-556B-DF32-A3D97F7CFA6B}"/>
                </a:ext>
              </a:extLst>
            </p:cNvPr>
            <p:cNvSpPr/>
            <p:nvPr/>
          </p:nvSpPr>
          <p:spPr>
            <a:xfrm>
              <a:off x="7394006" y="5194573"/>
              <a:ext cx="288758" cy="276062"/>
            </a:xfrm>
            <a:prstGeom prst="ellipse">
              <a:avLst/>
            </a:prstGeom>
            <a:solidFill>
              <a:srgbClr val="008EF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6724438-54C8-517E-D46D-A05E21194EFA}"/>
                </a:ext>
              </a:extLst>
            </p:cNvPr>
            <p:cNvSpPr/>
            <p:nvPr/>
          </p:nvSpPr>
          <p:spPr>
            <a:xfrm>
              <a:off x="8270381" y="5866888"/>
              <a:ext cx="288758" cy="27606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8F57535-07ED-8FB8-04C5-C25709C3B1BC}"/>
                </a:ext>
              </a:extLst>
            </p:cNvPr>
            <p:cNvSpPr/>
            <p:nvPr/>
          </p:nvSpPr>
          <p:spPr>
            <a:xfrm>
              <a:off x="8270830" y="5194573"/>
              <a:ext cx="288758" cy="27606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2D88404-2713-9148-22D6-F2D26EDB96D2}"/>
                </a:ext>
              </a:extLst>
            </p:cNvPr>
            <p:cNvSpPr/>
            <p:nvPr/>
          </p:nvSpPr>
          <p:spPr>
            <a:xfrm>
              <a:off x="8270381" y="4577837"/>
              <a:ext cx="288758" cy="27606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75B63FF-3D63-B39C-0F9E-E0B94B3FEE74}"/>
                </a:ext>
              </a:extLst>
            </p:cNvPr>
            <p:cNvSpPr/>
            <p:nvPr/>
          </p:nvSpPr>
          <p:spPr>
            <a:xfrm>
              <a:off x="9147205" y="5854409"/>
              <a:ext cx="288758" cy="276062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F89D5650-AA84-16CF-DAFC-FD1BF8CB311C}"/>
                </a:ext>
              </a:extLst>
            </p:cNvPr>
            <p:cNvSpPr/>
            <p:nvPr/>
          </p:nvSpPr>
          <p:spPr>
            <a:xfrm>
              <a:off x="9147654" y="5194573"/>
              <a:ext cx="288758" cy="276062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FB6EA534-CAAC-9889-CCA4-DAEDB55A07EA}"/>
                </a:ext>
              </a:extLst>
            </p:cNvPr>
            <p:cNvSpPr/>
            <p:nvPr/>
          </p:nvSpPr>
          <p:spPr>
            <a:xfrm>
              <a:off x="9147205" y="4571810"/>
              <a:ext cx="288758" cy="276062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10FCB1B6-3294-2877-8BE5-0DFAE3A92944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 flipV="1">
              <a:off x="6805940" y="5332604"/>
              <a:ext cx="588066" cy="20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332CA8D8-0637-F3D5-1D45-90561652E8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82764" y="5332604"/>
              <a:ext cx="588066" cy="20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[R] 25">
              <a:extLst>
                <a:ext uri="{FF2B5EF4-FFF2-40B4-BE49-F238E27FC236}">
                  <a16:creationId xmlns:a16="http://schemas.microsoft.com/office/drawing/2014/main" id="{59053977-355A-C051-7BE1-CDDFFB8DCA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9588" y="5332398"/>
              <a:ext cx="588066" cy="20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[R] 26">
              <a:extLst>
                <a:ext uri="{FF2B5EF4-FFF2-40B4-BE49-F238E27FC236}">
                  <a16:creationId xmlns:a16="http://schemas.microsoft.com/office/drawing/2014/main" id="{E6FF29ED-F86A-D31A-CFF4-C59E43ABC9ED}"/>
                </a:ext>
              </a:extLst>
            </p:cNvPr>
            <p:cNvCxnSpPr>
              <a:cxnSpLocks/>
              <a:stCxn id="14" idx="5"/>
              <a:endCxn id="15" idx="2"/>
            </p:cNvCxnSpPr>
            <p:nvPr/>
          </p:nvCxnSpPr>
          <p:spPr>
            <a:xfrm>
              <a:off x="7640476" y="5430207"/>
              <a:ext cx="629905" cy="574712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2BA27FA9-5A7D-124E-11DC-A38F82C95259}"/>
                </a:ext>
              </a:extLst>
            </p:cNvPr>
            <p:cNvCxnSpPr>
              <a:cxnSpLocks/>
              <a:stCxn id="14" idx="7"/>
              <a:endCxn id="17" idx="3"/>
            </p:cNvCxnSpPr>
            <p:nvPr/>
          </p:nvCxnSpPr>
          <p:spPr>
            <a:xfrm flipV="1">
              <a:off x="7640476" y="4813471"/>
              <a:ext cx="672193" cy="421530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[R] 32">
              <a:extLst>
                <a:ext uri="{FF2B5EF4-FFF2-40B4-BE49-F238E27FC236}">
                  <a16:creationId xmlns:a16="http://schemas.microsoft.com/office/drawing/2014/main" id="{7D50DF92-F9AD-635B-6FF1-AAF6F07DC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9139" y="6005061"/>
              <a:ext cx="588066" cy="20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[R] 34">
              <a:extLst>
                <a:ext uri="{FF2B5EF4-FFF2-40B4-BE49-F238E27FC236}">
                  <a16:creationId xmlns:a16="http://schemas.microsoft.com/office/drawing/2014/main" id="{F2629945-2CEE-A138-A846-4DDD6D5508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9139" y="4701437"/>
              <a:ext cx="588066" cy="20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3D82248-F71B-C37E-9AB0-0E1AF1EB7BAA}"/>
                    </a:ext>
                  </a:extLst>
                </p:cNvPr>
                <p:cNvSpPr txBox="1"/>
                <p:nvPr/>
              </p:nvSpPr>
              <p:spPr>
                <a:xfrm>
                  <a:off x="6295801" y="4248968"/>
                  <a:ext cx="731520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Wingdings" pitchFamily="2" charset="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Wingdings" pitchFamily="2" charset="2"/>
                              </a:rPr>
                              <m:t>𝑡𝑟𝑎𝑖𝑛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3D82248-F71B-C37E-9AB0-0E1AF1EB7B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5801" y="4248968"/>
                  <a:ext cx="73152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C336E81-14BA-1872-0581-3F5735919F2F}"/>
                </a:ext>
              </a:extLst>
            </p:cNvPr>
            <p:cNvSpPr txBox="1"/>
            <p:nvPr/>
          </p:nvSpPr>
          <p:spPr>
            <a:xfrm>
              <a:off x="7028022" y="4248967"/>
              <a:ext cx="87612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Customers</a:t>
              </a:r>
              <a:endParaRPr lang="ko-KR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507670B-E1AB-50E3-1941-3B5237BF677D}"/>
                </a:ext>
              </a:extLst>
            </p:cNvPr>
            <p:cNvSpPr txBox="1"/>
            <p:nvPr/>
          </p:nvSpPr>
          <p:spPr>
            <a:xfrm>
              <a:off x="7818809" y="4249255"/>
              <a:ext cx="119190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Transactions</a:t>
              </a:r>
              <a:endParaRPr lang="ko-KR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FEC9F1B-1960-8CC9-E1D0-5CAA4F769FDF}"/>
                </a:ext>
              </a:extLst>
            </p:cNvPr>
            <p:cNvSpPr txBox="1"/>
            <p:nvPr/>
          </p:nvSpPr>
          <p:spPr>
            <a:xfrm>
              <a:off x="8695633" y="4248969"/>
              <a:ext cx="119190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Products</a:t>
              </a:r>
              <a:endParaRPr lang="ko-KR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4" name="직선 연결선[R] 43">
              <a:extLst>
                <a:ext uri="{FF2B5EF4-FFF2-40B4-BE49-F238E27FC236}">
                  <a16:creationId xmlns:a16="http://schemas.microsoft.com/office/drawing/2014/main" id="{D9DAF0AF-DD9A-6AE7-830F-4FFB2061AF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599" y="4811780"/>
              <a:ext cx="672193" cy="421530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64C3FC1-A82B-FF01-C7B6-D50C9AA35C7C}"/>
                </a:ext>
              </a:extLst>
            </p:cNvPr>
            <p:cNvSpPr txBox="1"/>
            <p:nvPr/>
          </p:nvSpPr>
          <p:spPr>
            <a:xfrm rot="16200000">
              <a:off x="8340612" y="5508841"/>
              <a:ext cx="820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dirty="0"/>
                <a:t>…</a:t>
              </a:r>
              <a:endParaRPr kumimoji="1"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49561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58CEC-B31D-77A4-6E8C-ECF9BF1FD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99F71-0D21-3A1E-040D-B523C0D70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Temporal, Heterogeneous Message Passing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28078-5A65-B726-1854-01F505FF8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11</a:t>
            </a:fld>
            <a:endParaRPr kumimoji="1"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2CF4485E-F207-8CBC-65EB-AAC559A27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Information flow between nodes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can only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go forward in time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, ensured by a temporal neighbor sampler.</a:t>
            </a:r>
          </a:p>
          <a:p>
            <a:pPr>
              <a:lnSpc>
                <a:spcPct val="10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Node embeddings are constructed by encoding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modality-specific column features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and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fusing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them into a unified row-level representation.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347579-C076-DEFD-BBE9-EBEF62822B46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11F9F41-0397-2C02-87FA-2D2D4B4EB9C6}"/>
              </a:ext>
            </a:extLst>
          </p:cNvPr>
          <p:cNvGrpSpPr/>
          <p:nvPr/>
        </p:nvGrpSpPr>
        <p:grpSpPr>
          <a:xfrm>
            <a:off x="1564978" y="3877741"/>
            <a:ext cx="3591734" cy="1893983"/>
            <a:chOff x="6295801" y="4248967"/>
            <a:chExt cx="3591734" cy="189398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A1802B87-E3AF-FC40-30A4-0C4AFA99760F}"/>
                </a:ext>
              </a:extLst>
            </p:cNvPr>
            <p:cNvSpPr/>
            <p:nvPr/>
          </p:nvSpPr>
          <p:spPr>
            <a:xfrm>
              <a:off x="6517182" y="5194779"/>
              <a:ext cx="288758" cy="276062"/>
            </a:xfrm>
            <a:prstGeom prst="ellipse">
              <a:avLst/>
            </a:prstGeom>
            <a:solidFill>
              <a:srgbClr val="FF3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74A56F5-6E88-42A1-A90C-1FCEC8FB2D1E}"/>
                </a:ext>
              </a:extLst>
            </p:cNvPr>
            <p:cNvSpPr/>
            <p:nvPr/>
          </p:nvSpPr>
          <p:spPr>
            <a:xfrm>
              <a:off x="7394006" y="5194573"/>
              <a:ext cx="288758" cy="276062"/>
            </a:xfrm>
            <a:prstGeom prst="ellipse">
              <a:avLst/>
            </a:prstGeom>
            <a:solidFill>
              <a:srgbClr val="008EF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7E15BD3-0D02-DC3B-9B1C-86DF721A7EA8}"/>
                </a:ext>
              </a:extLst>
            </p:cNvPr>
            <p:cNvSpPr/>
            <p:nvPr/>
          </p:nvSpPr>
          <p:spPr>
            <a:xfrm>
              <a:off x="8270381" y="5866888"/>
              <a:ext cx="288758" cy="27606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CB8F47F-8C46-9DBC-FAE5-47421D6ED388}"/>
                </a:ext>
              </a:extLst>
            </p:cNvPr>
            <p:cNvSpPr/>
            <p:nvPr/>
          </p:nvSpPr>
          <p:spPr>
            <a:xfrm>
              <a:off x="8270830" y="5194573"/>
              <a:ext cx="288758" cy="27606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A0C8FE7D-5F93-57D2-ED05-5EFA7F897BC6}"/>
                </a:ext>
              </a:extLst>
            </p:cNvPr>
            <p:cNvSpPr/>
            <p:nvPr/>
          </p:nvSpPr>
          <p:spPr>
            <a:xfrm>
              <a:off x="8270381" y="4577837"/>
              <a:ext cx="288758" cy="27606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2CEBEC2-EA0A-6C75-8CB1-82EDC476ADF8}"/>
                </a:ext>
              </a:extLst>
            </p:cNvPr>
            <p:cNvSpPr/>
            <p:nvPr/>
          </p:nvSpPr>
          <p:spPr>
            <a:xfrm>
              <a:off x="9147205" y="5854409"/>
              <a:ext cx="288758" cy="276062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20331E49-C428-41F9-4F42-261310DD9230}"/>
                </a:ext>
              </a:extLst>
            </p:cNvPr>
            <p:cNvSpPr/>
            <p:nvPr/>
          </p:nvSpPr>
          <p:spPr>
            <a:xfrm>
              <a:off x="9147654" y="5194573"/>
              <a:ext cx="288758" cy="276062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1D8615AA-93A1-40E9-FEFF-936246339C47}"/>
                </a:ext>
              </a:extLst>
            </p:cNvPr>
            <p:cNvSpPr/>
            <p:nvPr/>
          </p:nvSpPr>
          <p:spPr>
            <a:xfrm>
              <a:off x="9147205" y="4571810"/>
              <a:ext cx="288758" cy="276062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3047A1EA-6380-A6C0-C3E1-61C1CF24D301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 flipV="1">
              <a:off x="6805940" y="5332604"/>
              <a:ext cx="588066" cy="20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521494F6-81BB-0F3C-B145-AED77586F6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82764" y="5332604"/>
              <a:ext cx="588066" cy="20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[R] 25">
              <a:extLst>
                <a:ext uri="{FF2B5EF4-FFF2-40B4-BE49-F238E27FC236}">
                  <a16:creationId xmlns:a16="http://schemas.microsoft.com/office/drawing/2014/main" id="{376B9472-24B4-8304-1DE8-CEAACCCC9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9588" y="5332398"/>
              <a:ext cx="588066" cy="20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[R] 26">
              <a:extLst>
                <a:ext uri="{FF2B5EF4-FFF2-40B4-BE49-F238E27FC236}">
                  <a16:creationId xmlns:a16="http://schemas.microsoft.com/office/drawing/2014/main" id="{EB418732-13CA-BF4A-F1FD-907A176BBF54}"/>
                </a:ext>
              </a:extLst>
            </p:cNvPr>
            <p:cNvCxnSpPr>
              <a:cxnSpLocks/>
              <a:stCxn id="14" idx="5"/>
              <a:endCxn id="15" idx="2"/>
            </p:cNvCxnSpPr>
            <p:nvPr/>
          </p:nvCxnSpPr>
          <p:spPr>
            <a:xfrm>
              <a:off x="7640476" y="5430207"/>
              <a:ext cx="629905" cy="574712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839B0849-333F-15A8-C4BA-C77D2F129D62}"/>
                </a:ext>
              </a:extLst>
            </p:cNvPr>
            <p:cNvCxnSpPr>
              <a:cxnSpLocks/>
              <a:stCxn id="14" idx="7"/>
              <a:endCxn id="17" idx="3"/>
            </p:cNvCxnSpPr>
            <p:nvPr/>
          </p:nvCxnSpPr>
          <p:spPr>
            <a:xfrm flipV="1">
              <a:off x="7640476" y="4813471"/>
              <a:ext cx="672193" cy="421530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[R] 32">
              <a:extLst>
                <a:ext uri="{FF2B5EF4-FFF2-40B4-BE49-F238E27FC236}">
                  <a16:creationId xmlns:a16="http://schemas.microsoft.com/office/drawing/2014/main" id="{A34D6CAB-7A81-EBF7-BCD1-86DD4860D8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9139" y="6005061"/>
              <a:ext cx="588066" cy="20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[R] 34">
              <a:extLst>
                <a:ext uri="{FF2B5EF4-FFF2-40B4-BE49-F238E27FC236}">
                  <a16:creationId xmlns:a16="http://schemas.microsoft.com/office/drawing/2014/main" id="{D09B383E-B85F-7230-4102-62A46240F7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9139" y="4701437"/>
              <a:ext cx="588066" cy="20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D0252A2-1DDF-83FF-BA4F-41CB8672325F}"/>
                    </a:ext>
                  </a:extLst>
                </p:cNvPr>
                <p:cNvSpPr txBox="1"/>
                <p:nvPr/>
              </p:nvSpPr>
              <p:spPr>
                <a:xfrm>
                  <a:off x="6295801" y="4248968"/>
                  <a:ext cx="731520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Wingdings" pitchFamily="2" charset="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Wingdings" pitchFamily="2" charset="2"/>
                              </a:rPr>
                              <m:t>𝑡𝑟𝑎𝑖𝑛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D0252A2-1DDF-83FF-BA4F-41CB86723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5801" y="4248968"/>
                  <a:ext cx="731520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FB41F12-5977-A1BD-0DE9-6338C63D5FC0}"/>
                </a:ext>
              </a:extLst>
            </p:cNvPr>
            <p:cNvSpPr txBox="1"/>
            <p:nvPr/>
          </p:nvSpPr>
          <p:spPr>
            <a:xfrm>
              <a:off x="7028022" y="4248967"/>
              <a:ext cx="87612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Customers</a:t>
              </a:r>
              <a:endParaRPr lang="ko-KR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CA2B1B2-CBBF-CE85-DBA2-98C2C11EF0DD}"/>
                </a:ext>
              </a:extLst>
            </p:cNvPr>
            <p:cNvSpPr txBox="1"/>
            <p:nvPr/>
          </p:nvSpPr>
          <p:spPr>
            <a:xfrm>
              <a:off x="7818809" y="4249255"/>
              <a:ext cx="119190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Transactions</a:t>
              </a:r>
              <a:endParaRPr lang="ko-KR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9B733B-DF46-E315-D22D-BA2F961FB3A0}"/>
                </a:ext>
              </a:extLst>
            </p:cNvPr>
            <p:cNvSpPr txBox="1"/>
            <p:nvPr/>
          </p:nvSpPr>
          <p:spPr>
            <a:xfrm>
              <a:off x="8695633" y="4248969"/>
              <a:ext cx="119190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Products</a:t>
              </a:r>
              <a:endParaRPr lang="ko-KR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4" name="직선 연결선[R] 43">
              <a:extLst>
                <a:ext uri="{FF2B5EF4-FFF2-40B4-BE49-F238E27FC236}">
                  <a16:creationId xmlns:a16="http://schemas.microsoft.com/office/drawing/2014/main" id="{8DC1C367-E161-94A9-2007-A4339E4294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599" y="4811780"/>
              <a:ext cx="672193" cy="421530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CA14349-E5B9-38FC-0FA0-FF6B1756DC01}"/>
                </a:ext>
              </a:extLst>
            </p:cNvPr>
            <p:cNvSpPr txBox="1"/>
            <p:nvPr/>
          </p:nvSpPr>
          <p:spPr>
            <a:xfrm rot="16200000">
              <a:off x="8340612" y="5508841"/>
              <a:ext cx="820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dirty="0"/>
                <a:t>…</a:t>
              </a:r>
              <a:endParaRPr kumimoji="1" lang="ko-KR" altLang="en-US" dirty="0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A09F2F7E-ED93-344B-F3B5-A97C62A08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490" y="3610238"/>
            <a:ext cx="4471886" cy="269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61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FD387-53AC-432F-F144-8D64CECB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0026B-C2E6-C3EE-D51D-03D10AA8E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BD450-6843-FE9B-83CA-E0FD5899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12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EFC59394-8DB2-43C2-85A0-6E623BD6C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Introduction to Relational Database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Deep Learning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Graph Transformer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Foundation Model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Benchmark for RDL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Toy example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401409-B63F-71CE-299F-7590C66FD70B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68756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F424D-76AA-8826-80BE-447B102F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1C290-6992-1D23-9522-D33080928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Relational Graph Transformer (RELGT)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2249C-4BF5-B7A6-09F0-AD2AA6ED9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13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359016C3-9785-B724-0131-97A033CDA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RELGT is a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Transformer architecture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specifically designed to model large-scale, heterogeneous, and temporal relational graphs.</a:t>
            </a:r>
          </a:p>
          <a:p>
            <a:pPr>
              <a:lnSpc>
                <a:spcPct val="10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Each node is tokenized into a structured representation that encodes its attributes, type, temporal context, and structural role.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37587F-2902-1B46-2E7D-598155C2443C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5" name="그림 4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347CDC-0933-87A4-4B95-6E303E052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033" y="3783182"/>
            <a:ext cx="2850560" cy="2573168"/>
          </a:xfrm>
          <a:prstGeom prst="rect">
            <a:avLst/>
          </a:prstGeom>
        </p:spPr>
      </p:pic>
      <p:pic>
        <p:nvPicPr>
          <p:cNvPr id="7" name="그림 6" descr="스크린샷, 텍스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5A8470-0C61-418B-30FB-897AB412F01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4563" r="80705" b="44991"/>
          <a:stretch>
            <a:fillRect/>
          </a:stretch>
        </p:blipFill>
        <p:spPr>
          <a:xfrm>
            <a:off x="5953319" y="4205497"/>
            <a:ext cx="1750597" cy="1584523"/>
          </a:xfrm>
          <a:prstGeom prst="rect">
            <a:avLst/>
          </a:prstGeom>
        </p:spPr>
      </p:pic>
      <p:pic>
        <p:nvPicPr>
          <p:cNvPr id="8" name="그림 7" descr="스크린샷, 텍스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99EBC6-2157-A081-4A9B-EA59F96CC0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254" r="81022" b="6114"/>
          <a:stretch>
            <a:fillRect/>
          </a:stretch>
        </p:blipFill>
        <p:spPr>
          <a:xfrm>
            <a:off x="8717609" y="4400647"/>
            <a:ext cx="2319186" cy="1194224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CD27C71-3198-F6C7-E955-AAA70DFCCA8C}"/>
              </a:ext>
            </a:extLst>
          </p:cNvPr>
          <p:cNvCxnSpPr>
            <a:cxnSpLocks/>
          </p:cNvCxnSpPr>
          <p:nvPr/>
        </p:nvCxnSpPr>
        <p:spPr>
          <a:xfrm>
            <a:off x="7703916" y="4997759"/>
            <a:ext cx="808043" cy="1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FEED2D-E3BE-67D8-73A5-57E903C3C813}"/>
              </a:ext>
            </a:extLst>
          </p:cNvPr>
          <p:cNvSpPr txBox="1"/>
          <p:nvPr/>
        </p:nvSpPr>
        <p:spPr>
          <a:xfrm>
            <a:off x="6882182" y="5956979"/>
            <a:ext cx="298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 err="1">
                <a:latin typeface="Calibri" panose="020F0502020204030204" pitchFamily="34" charset="0"/>
                <a:cs typeface="Calibri" panose="020F0502020204030204" pitchFamily="34" charset="0"/>
              </a:rPr>
              <a:t>Tokenziation</a:t>
            </a: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 Process of RELGT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724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1B37E-04BB-F396-8497-FD26B12F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C7D8-22ED-DA6E-DF86-AE0B64364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Encoders for Entity Embeddings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D2F4F-377C-285E-2CFD-4D17C984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14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526F70E2-0C22-E171-7A45-AB0DF36D9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Node Feature Encoder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Node Type Encoder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Hop Encoder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Time Encoder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Subgraph PE Encoder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78837CB-41E6-07F7-C6D5-2D61621BE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998" y="4744589"/>
            <a:ext cx="3972902" cy="41276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5504F6D-60A6-AC1E-AC1F-AF4C42A39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998" y="3998037"/>
            <a:ext cx="4849065" cy="41594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6A26528-0052-A77B-07BE-A1777E063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5998" y="3368774"/>
            <a:ext cx="4975819" cy="42205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37E7A5B-2B3D-F1A6-4077-BB1246BBC2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5999" y="2664968"/>
            <a:ext cx="4278591" cy="42567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71A214A-D3D0-5AAC-0E91-44112141AE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5999" y="1965353"/>
            <a:ext cx="4711610" cy="427331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FF9D41-4D7C-B170-48A7-87F84B851E06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FD0BB30-038F-B7A1-61E7-10116FDB527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" t="3975" r="59" b="1504"/>
          <a:stretch>
            <a:fillRect/>
          </a:stretch>
        </p:blipFill>
        <p:spPr>
          <a:xfrm>
            <a:off x="1799726" y="5673629"/>
            <a:ext cx="8592548" cy="59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56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B00C9-4CAF-67C3-C7BF-F78838DC9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26AD-949B-F9F1-75F2-F4CB62C38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Relational Graph Transformer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B6E05-1822-F3CD-5AF3-C4AF9214C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15</a:t>
            </a:fld>
            <a:endParaRPr kumimoji="1" lang="ko-KR" altLang="en-US"/>
          </a:p>
        </p:txBody>
      </p:sp>
      <p:pic>
        <p:nvPicPr>
          <p:cNvPr id="5" name="그림 4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77A24D-20A7-9D94-3307-689303B93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453" y="2772159"/>
            <a:ext cx="8799094" cy="28560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A779196-5EE5-2C8B-2FB5-B21B248A1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460" y="5708841"/>
            <a:ext cx="4898005" cy="38746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9A73C97-FAE3-BF7C-A22C-DB35138D8F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4916" y="6178698"/>
            <a:ext cx="3480569" cy="38889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0A01A4-983E-2E2E-7CC2-D16E5A99CDB5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내용 개체 틀 4">
            <a:extLst>
              <a:ext uri="{FF2B5EF4-FFF2-40B4-BE49-F238E27FC236}">
                <a16:creationId xmlns:a16="http://schemas.microsoft.com/office/drawing/2014/main" id="{6E0D321C-4835-F1E5-5C87-27E069C26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RELGT includes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local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attention and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global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attention.</a:t>
            </a:r>
            <a:endParaRPr lang="en-US" altLang="ko-KR" sz="18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 model is trained end-to-end using suitable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task specific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loss functions.</a:t>
            </a:r>
          </a:p>
        </p:txBody>
      </p:sp>
    </p:spTree>
    <p:extLst>
      <p:ext uri="{BB962C8B-B14F-4D97-AF65-F5344CB8AC3E}">
        <p14:creationId xmlns:p14="http://schemas.microsoft.com/office/powerpoint/2010/main" val="2608575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FEDD5-3A51-0F0B-432C-498368614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D9005-756C-1D17-765D-4F771360E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B67AE-9D7B-76B1-DD18-4BEBE2FF7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16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94E79B3E-03CE-1489-BCEB-68B1F1EFC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Introduction to Relational Database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Deep Learning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Graph Transformer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Foundation Model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Benchmark for RDL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Toy example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8C52D7-9501-8F4F-AB18-C464D4D538DC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9057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F131B-B6EF-1F67-D20A-F48728A9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4455-D82C-ED2E-C023-B5C5DEA6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Relational Foundation Model</a:t>
            </a:r>
            <a:r>
              <a:rPr lang="ko-KR" alt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36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KumoRFM</a:t>
            </a:r>
            <a:r>
              <a:rPr lang="en-US" altLang="ko-KR" sz="3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7816B-FA95-3426-00C2-E1C42DFB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17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0207F5CE-C2BA-D202-6346-B7C395265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b="1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KumoRFM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relational foundation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model making predictions over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any relational database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and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any predictive task 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without requiring any data- or task-specific training.</a:t>
            </a:r>
          </a:p>
          <a:p>
            <a:r>
              <a:rPr lang="en-US" altLang="ko-KR" sz="2400" b="1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KumoRFM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is pre-trained based on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RELGT 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built on the principles of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RDL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17A182-4576-6D4E-3A6A-B21E5700D1E2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6" name="그림 1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304A8A-E1B3-58A6-E4B3-62EC2A576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505" y="3799097"/>
            <a:ext cx="5280792" cy="227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605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19C1E-98E1-4674-B3AF-887C68C39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11E0-8562-3522-1123-528E5350D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Relational Foundation Model</a:t>
            </a:r>
            <a:r>
              <a:rPr lang="ko-KR" alt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36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KumoRFM</a:t>
            </a:r>
            <a:r>
              <a:rPr lang="en-US" altLang="ko-KR" sz="3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5AEC5-7F12-C3CE-1BFF-674F01F63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18</a:t>
            </a:fld>
            <a:endParaRPr kumimoji="1"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7EC82536-74B0-EA38-EF34-97F6AA06C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KumoRFM</a:t>
            </a:r>
            <a:r>
              <a:rPr lang="ko-KR" alt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is b</a:t>
            </a:r>
            <a:r>
              <a:rPr lang="en" altLang="ko-KR" sz="24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uilt</a:t>
            </a:r>
            <a:r>
              <a:rPr lang="en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upon a large-scale </a:t>
            </a:r>
            <a:r>
              <a:rPr lang="en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pretrained</a:t>
            </a:r>
            <a:r>
              <a:rPr lang="en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Relational Graph Transformer.</a:t>
            </a:r>
            <a:endParaRPr lang="en-US" altLang="ko-KR" sz="2400" i="1" dirty="0">
              <a:latin typeface="Cambria Math" panose="02040503050406030204" pitchFamily="18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KumoRFM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performs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in-context learning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on query-generated relational subgraphs, without retraining the model.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It enables prediction on </a:t>
            </a: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unseen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relational datasets through in-context learning.</a:t>
            </a:r>
            <a:endParaRPr lang="en-US" altLang="ko-KR" sz="2400" i="1" dirty="0">
              <a:latin typeface="Cambria Math" panose="02040503050406030204" pitchFamily="18" charset="0"/>
              <a:cs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5DB792-753A-2C0B-0E75-EC70A4C87C72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8C74C9E-7F87-8026-AEF9-DB01E75FC7E1}"/>
              </a:ext>
            </a:extLst>
          </p:cNvPr>
          <p:cNvGrpSpPr/>
          <p:nvPr/>
        </p:nvGrpSpPr>
        <p:grpSpPr>
          <a:xfrm>
            <a:off x="3519951" y="4674745"/>
            <a:ext cx="4899856" cy="788155"/>
            <a:chOff x="3646072" y="4674745"/>
            <a:chExt cx="4899856" cy="788155"/>
          </a:xfrm>
        </p:grpSpPr>
        <p:pic>
          <p:nvPicPr>
            <p:cNvPr id="3" name="그림 2" descr="텍스트, 폰트, 친필, 서예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1183E4B-76C3-D4FA-C1FD-6651BD071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6072" y="4674745"/>
              <a:ext cx="4899856" cy="78815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AA79AE3-82B4-141E-019E-08583F8B0E88}"/>
                </a:ext>
              </a:extLst>
            </p:cNvPr>
            <p:cNvSpPr/>
            <p:nvPr/>
          </p:nvSpPr>
          <p:spPr>
            <a:xfrm>
              <a:off x="5769428" y="4674746"/>
              <a:ext cx="566057" cy="788154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D673B70-ACB0-03C5-3269-ECF2D7A850D1}"/>
                </a:ext>
              </a:extLst>
            </p:cNvPr>
            <p:cNvSpPr/>
            <p:nvPr/>
          </p:nvSpPr>
          <p:spPr>
            <a:xfrm>
              <a:off x="6459867" y="4674745"/>
              <a:ext cx="1776248" cy="788155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90AF190-85F3-95FD-AF72-079AE6B046D3}"/>
              </a:ext>
            </a:extLst>
          </p:cNvPr>
          <p:cNvSpPr txBox="1"/>
          <p:nvPr/>
        </p:nvSpPr>
        <p:spPr>
          <a:xfrm>
            <a:off x="6098440" y="4151524"/>
            <a:ext cx="224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Calibri" panose="020F0502020204030204" pitchFamily="34" charset="0"/>
                <a:cs typeface="Calibri" panose="020F0502020204030204" pitchFamily="34" charset="0"/>
              </a:rPr>
              <a:t>Context</a:t>
            </a:r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 Subgraphs /labels (Train)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D2645C-D182-B37F-547B-8DC354DDDF84}"/>
              </a:ext>
            </a:extLst>
          </p:cNvPr>
          <p:cNvSpPr txBox="1"/>
          <p:nvPr/>
        </p:nvSpPr>
        <p:spPr>
          <a:xfrm>
            <a:off x="5120792" y="5558321"/>
            <a:ext cx="1611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 Entity Subgraph (Test)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848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54B05-49CF-F4BF-3537-CF9E324C3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FB8B-6176-2346-C5D4-2BD1EDC0B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Predictive Query Language (PQL)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486F2-9F56-B0AD-34C5-61303B83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19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1ADAE9DC-F5C1-0AE9-E629-858FAB546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 Predictive Query is a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declarative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syntax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used to define a predictive modeling task in Kumo.</a:t>
            </a: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Surprisingly, it provides interface that interpret NL into PQL (details not provided).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B2D041B-3771-2AA0-A9D2-E856F78C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R"/>
              <a:t>https://kumo.ai/docs/pquery-structure/</a:t>
            </a:r>
            <a:endParaRPr kumimoji="1" lang="ko-KR" altLang="en-US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8570BD-7BC4-E5FB-51A3-4FD37A708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362" y="3545660"/>
            <a:ext cx="5359238" cy="263130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9A97A4C-C79D-4AEE-5322-8972521D8C0F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12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68E3-848E-B9DC-CA72-DFC361BB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2F0FB-7145-213A-6BEA-83039DC12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Predictive Query Language (PQL)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338E-CA49-D193-6A94-12E97984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20</a:t>
            </a:fld>
            <a:endParaRPr kumimoji="1"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08CDC9D1-1A96-8AD2-E9F7-0F8ECDEDD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Query has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PREDICT, FOR, WHERE clause.</a:t>
            </a: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PQL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supports various predictive tasks 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(regression, binary classification, multi-class classification, and link prediction).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B4DCC96-C636-023F-A835-47C0EE6EA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R"/>
              <a:t>https://kumo.ai/docs/pquery-structure/</a:t>
            </a:r>
            <a:endParaRPr kumimoji="1" lang="ko-KR" altLang="en-US"/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7BA816-821A-2D24-F589-BA2698A95B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719"/>
          <a:stretch>
            <a:fillRect/>
          </a:stretch>
        </p:blipFill>
        <p:spPr>
          <a:xfrm>
            <a:off x="743401" y="3740768"/>
            <a:ext cx="5616517" cy="229923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F4C2B06-2DE1-0DE1-3A46-D5A8E2384795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5" name="그림 4" descr="텍스트, 스크린샷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0FE8E7-562D-F16E-DCD5-270DC11A9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717" y="3740768"/>
            <a:ext cx="5121395" cy="243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699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F3562-3C17-65EC-1019-AC446FD65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B63AF-D98D-21DB-4E17-9729726F9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Online Context Generation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DFFF3-9B34-A317-9E4C-FCC8C985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21</a:t>
            </a:fld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4">
                <a:extLst>
                  <a:ext uri="{FF2B5EF4-FFF2-40B4-BE49-F238E27FC236}">
                    <a16:creationId xmlns:a16="http://schemas.microsoft.com/office/drawing/2014/main" id="{800DC248-5D3A-0011-5B59-722B6098D7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i="1" dirty="0">
                        <a:latin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𝑘</m:t>
                    </m:r>
                  </m:oMath>
                </a14:m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-hop subgraph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</m:ctrlPr>
                      </m:sSubSup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𝑔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𝑘</m:t>
                        </m:r>
                      </m:sub>
                      <m:sup>
                        <m:r>
                          <a:rPr lang="en-US" altLang="ko-KR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≤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𝑡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altLang="ko-KR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𝑒</m:t>
                        </m:r>
                      </m:e>
                    </m:d>
                    <m:r>
                      <a:rPr lang="en-US" altLang="ko-K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⊆</m:t>
                    </m:r>
                    <m:r>
                      <a:rPr lang="en-US" altLang="ko-K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𝒢</m:t>
                    </m:r>
                  </m:oMath>
                </a14:m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is sampled around entity </a:t>
                </a:r>
                <a14:m>
                  <m:oMath xmlns:m="http://schemas.openxmlformats.org/officeDocument/2006/math">
                    <m:r>
                      <a:rPr lang="en-US" altLang="ko-KR" sz="2400" i="1" dirty="0">
                        <a:latin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𝑒</m:t>
                    </m:r>
                  </m:oMath>
                </a14:m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</a:t>
                </a:r>
                <a:r>
                  <a:rPr lang="en-US" altLang="ko-KR" sz="2400" b="1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up to timestamp </a:t>
                </a:r>
                <a14:m>
                  <m:oMath xmlns:m="http://schemas.openxmlformats.org/officeDocument/2006/math">
                    <m:r>
                      <a:rPr lang="en-US" altLang="ko-KR" sz="2400" b="1" i="1" dirty="0">
                        <a:latin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𝒕</m:t>
                    </m:r>
                  </m:oMath>
                </a14:m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to be used as input to make a prediction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altLang="ko-KR" sz="24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Wingdings" pitchFamily="2" charset="2"/>
                              </a:rPr>
                            </m:ctrlPr>
                          </m:accPr>
                          <m:e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Wingdings" pitchFamily="2" charset="2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𝑒</m:t>
                        </m:r>
                      </m:sub>
                      <m:sup>
                        <m:r>
                          <a:rPr lang="en-US" altLang="ko-KR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.</a:t>
                </a:r>
                <a:endParaRPr lang="en-US" altLang="ko-KR" sz="2400" b="1" dirty="0"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endParaRPr>
              </a:p>
              <a:p>
                <a:r>
                  <a:rPr lang="en-US" altLang="ko-KR" sz="2400" b="1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Dynamically update</a:t>
                </a:r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the graph on-the-fly, grouping historical labels into a dynamically constructed training table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itchFamily="2" charset="2"/>
                          </a:rPr>
                          <m:t>𝑇</m:t>
                        </m:r>
                      </m:e>
                    </m:acc>
                  </m:oMath>
                </a14:m>
                <a:r>
                  <a:rPr lang="en-US" altLang="ko-KR" sz="2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and attaching it to the entity table.</a:t>
                </a:r>
              </a:p>
            </p:txBody>
          </p:sp>
        </mc:Choice>
        <mc:Fallback xmlns="">
          <p:sp>
            <p:nvSpPr>
              <p:cNvPr id="6" name="내용 개체 틀 4">
                <a:extLst>
                  <a:ext uri="{FF2B5EF4-FFF2-40B4-BE49-F238E27FC236}">
                    <a16:creationId xmlns:a16="http://schemas.microsoft.com/office/drawing/2014/main" id="{800DC248-5D3A-0011-5B59-722B6098D7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844" t="-14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45588E-C8BB-31A8-B7FD-7532A723C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624" y="4747673"/>
            <a:ext cx="3135500" cy="1474533"/>
          </a:xfrm>
          <a:prstGeom prst="rect">
            <a:avLst/>
          </a:prstGeom>
        </p:spPr>
      </p:pic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7E766B-7E3C-0213-67D9-CA1ADFE9B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R"/>
              <a:t>https://kumo.ai/docs/temporal-vs-static-pqueries/</a:t>
            </a:r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895A462-1C50-EBDE-A579-B314150F94AC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A7C09C1-6F97-51C3-B28A-E8ADA3AEDA91}"/>
              </a:ext>
            </a:extLst>
          </p:cNvPr>
          <p:cNvGrpSpPr/>
          <p:nvPr/>
        </p:nvGrpSpPr>
        <p:grpSpPr>
          <a:xfrm>
            <a:off x="3423799" y="3584455"/>
            <a:ext cx="4899856" cy="788155"/>
            <a:chOff x="1017172" y="4769339"/>
            <a:chExt cx="4899856" cy="788155"/>
          </a:xfrm>
        </p:grpSpPr>
        <p:pic>
          <p:nvPicPr>
            <p:cNvPr id="8" name="그림 7" descr="텍스트, 폰트, 친필, 서예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D131076-9334-D46B-F825-EBA97D6ED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7172" y="4769339"/>
              <a:ext cx="4899856" cy="788155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283C7D2-4758-7ED9-1776-043BED64655D}"/>
                </a:ext>
              </a:extLst>
            </p:cNvPr>
            <p:cNvSpPr/>
            <p:nvPr/>
          </p:nvSpPr>
          <p:spPr>
            <a:xfrm>
              <a:off x="3857297" y="4769339"/>
              <a:ext cx="1776248" cy="788155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A6625772-8F79-9C51-37B3-776730F657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895" y="4635358"/>
            <a:ext cx="2173724" cy="165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69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431BB-2A85-9F9F-55FC-D67E41050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B9A49-0521-08B8-E2E8-62813FAB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Temporal Sampling Procedures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7A9B6-E059-C3EC-0F0F-6AAC6A03F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22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61184B52-745F-DCFB-5C86-6B70BE994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Backward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-looking: to generate the corresponding input subgraphs</a:t>
            </a:r>
          </a:p>
          <a:p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Forward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-looking: to generate the in-context labels</a:t>
            </a:r>
          </a:p>
        </p:txBody>
      </p:sp>
      <p:pic>
        <p:nvPicPr>
          <p:cNvPr id="9" name="그림 8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F99CB2-851A-C723-64D7-7AE3831B3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040" y="3168556"/>
            <a:ext cx="7772400" cy="292426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136E4F8-510C-7DD1-D8F0-16D564DE8FEB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21691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332CC-DC22-41A8-1BCF-2BBC6EA25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85C2-728A-DF97-EF8B-E947B3B2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Relational Foundation Model</a:t>
            </a:r>
            <a:r>
              <a:rPr lang="ko-KR" alt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3600" dirty="0">
                <a:latin typeface="Calibri" panose="020F0502020204030204" pitchFamily="34" charset="0"/>
                <a:cs typeface="Calibri" panose="020F0502020204030204" pitchFamily="34" charset="0"/>
              </a:rPr>
              <a:t>(KumoRFM-v2)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838FC-04B4-D18A-AEE1-72DE3F81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23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D620390E-EA9C-81AB-3720-36545CB76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Last April,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KumoRFM-v2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was released.</a:t>
            </a: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Slight changes were added for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task-conditioned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relational reasoning.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D73176-A63A-0DA9-E7C5-38E09E14A95C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B8CA590-B2DD-8451-F861-BD7EBF496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003" y="3672519"/>
            <a:ext cx="7560399" cy="226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73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43227-7233-40B4-0B4D-09B4A8AB5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D2663-B888-FBF9-3CA5-F544B0B56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KumoRFM-2 Architecture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45F92-1F7E-FA6A-9070-3B7BEC8E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24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CB630591-8251-6A25-64A5-AF722B161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KumoRFM-2 first computes representations for all rows in the context via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alternating column- and row-wise attention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.</a:t>
            </a: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 representations are enriched via graph attention over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primary-foreign key relationships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and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cross-sample attention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over context examples.</a:t>
            </a:r>
          </a:p>
          <a:p>
            <a:endParaRPr lang="en-US" altLang="ko-KR" sz="24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C36D92-4847-0200-A41C-42D98BFFF47D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CA64578-C17A-A8F7-1550-56D300DE4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78" y="3496161"/>
            <a:ext cx="7772400" cy="287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853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F3A72-CF43-CB70-DC70-6D4433F8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5F5E8-C2FE-99AD-6049-BBD3E2681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Key Changes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35171-BFE7-8773-4E53-551C08164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25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EDB97301-A1DD-F41B-4772-04767DD99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Hierarchical Attention Scheme: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It introduces early task-conditioned hierarchical attention, enabling </a:t>
            </a: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task-aware relational representations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from the row/column feature extraction stage.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Smarter Context and Lagged Targets: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It combines (</a:t>
            </a: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local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) self-history and recent </a:t>
            </a: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global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database patterns to build more informative task-aware contexts.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B748E2-B600-C989-B7AF-38471F3A9C89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32279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E4C0B-601C-415C-34EB-629CD960B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3FF29-9516-112B-D220-1DD49B555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Benchmark for KumoRFM-2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A494C-8556-F064-10DB-70C43861E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26</a:t>
            </a:fld>
            <a:endParaRPr kumimoji="1" lang="ko-KR" altLang="en-US"/>
          </a:p>
        </p:txBody>
      </p:sp>
      <p:sp>
        <p:nvSpPr>
          <p:cNvPr id="17" name="내용 개체 틀 4">
            <a:extLst>
              <a:ext uri="{FF2B5EF4-FFF2-40B4-BE49-F238E27FC236}">
                <a16:creationId xmlns:a16="http://schemas.microsoft.com/office/drawing/2014/main" id="{820B1873-0557-B7D5-CD54-EB5CAFBB8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RelBenchV1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RelBenchV2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SALT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4DBInfer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B89B3B-C224-68F4-52D9-4E75187922A0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1128A1-9957-3FE3-7DCB-1670F2D71247}"/>
              </a:ext>
            </a:extLst>
          </p:cNvPr>
          <p:cNvSpPr/>
          <p:nvPr/>
        </p:nvSpPr>
        <p:spPr>
          <a:xfrm>
            <a:off x="2842054" y="4955426"/>
            <a:ext cx="7364627" cy="1210962"/>
          </a:xfrm>
          <a:prstGeom prst="rect">
            <a:avLst/>
          </a:prstGeom>
          <a:noFill/>
          <a:ln w="38100"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None of these datasets were used during pre-training, </a:t>
            </a:r>
            <a:br>
              <a:rPr lang="en-US" altLang="ko-K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ko-K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which guarantees </a:t>
            </a:r>
            <a:r>
              <a:rPr lang="en-US" altLang="ko-KR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no</a:t>
            </a:r>
            <a:r>
              <a:rPr lang="ko-KR" alt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</a:t>
            </a:r>
            <a:r>
              <a:rPr lang="en-US" altLang="ko-KR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leakage</a:t>
            </a:r>
            <a:r>
              <a:rPr lang="en-US" altLang="ko-K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of information!</a:t>
            </a:r>
          </a:p>
        </p:txBody>
      </p:sp>
    </p:spTree>
    <p:extLst>
      <p:ext uri="{BB962C8B-B14F-4D97-AF65-F5344CB8AC3E}">
        <p14:creationId xmlns:p14="http://schemas.microsoft.com/office/powerpoint/2010/main" val="3675071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A9066-946E-F704-E965-2C41F2904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A670-B7F7-C3BF-A651-CCCFE5A58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Baselines for KumoRFM-v2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348BA-6773-DDFE-495C-C77C5DB55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27</a:t>
            </a:fld>
            <a:endParaRPr kumimoji="1" lang="ko-KR" altLang="en-US"/>
          </a:p>
        </p:txBody>
      </p:sp>
      <p:sp>
        <p:nvSpPr>
          <p:cNvPr id="17" name="내용 개체 틀 4">
            <a:extLst>
              <a:ext uri="{FF2B5EF4-FFF2-40B4-BE49-F238E27FC236}">
                <a16:creationId xmlns:a16="http://schemas.microsoft.com/office/drawing/2014/main" id="{6B2B5300-CC1B-8801-603D-C4B304429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Supervised Tabular ML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Traditional ML</a:t>
            </a:r>
          </a:p>
          <a:p>
            <a:pPr lvl="1"/>
            <a:r>
              <a:rPr lang="en-US" altLang="ko-KR" sz="20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AutoML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Feature Engineering based</a:t>
            </a: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Naïve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Global mean/median</a:t>
            </a: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Supervised Relational ML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GNNs / GT</a:t>
            </a: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Foundation Models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LLMs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Tabular FMs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FMs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018417F-5716-1B86-6BA3-B94F2A0BE203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905C64-AF33-BA8E-06B1-39EE72753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610" y="1542239"/>
            <a:ext cx="5053109" cy="481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3894C-1CDE-C019-6343-96984B51F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D1-5D29-5095-8A3A-4D2DFBCA8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30779-AE67-A572-0645-FB5B53C94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28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3CB75AD4-6871-1D21-2059-7C2DA96BB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Introduction to Relational Database</a:t>
            </a:r>
          </a:p>
          <a:p>
            <a:pPr>
              <a:lnSpc>
                <a:spcPct val="10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Deep Learning</a:t>
            </a:r>
          </a:p>
          <a:p>
            <a:pPr>
              <a:lnSpc>
                <a:spcPct val="10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Graph Transformer</a:t>
            </a:r>
          </a:p>
          <a:p>
            <a:pPr>
              <a:lnSpc>
                <a:spcPct val="10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Foundation Model</a:t>
            </a:r>
          </a:p>
          <a:p>
            <a:pPr>
              <a:lnSpc>
                <a:spcPct val="100000"/>
              </a:lnSpc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Benchmark for RDL</a:t>
            </a:r>
          </a:p>
          <a:p>
            <a:pPr>
              <a:lnSpc>
                <a:spcPct val="10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Toy example</a:t>
            </a:r>
          </a:p>
          <a:p>
            <a:pPr>
              <a:lnSpc>
                <a:spcPct val="10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Conclusion</a:t>
            </a:r>
          </a:p>
          <a:p>
            <a:pPr>
              <a:lnSpc>
                <a:spcPct val="100000"/>
              </a:lnSpc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77ECAD-AA23-746F-31BE-80B46194D694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7221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91904-6F67-A116-F194-144AD794A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54D2-A103-4011-031B-D6F561C6F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RelBench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: Benchmark for Relational Model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217D0-2026-45FE-FD9F-3B229057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29</a:t>
            </a:fld>
            <a:endParaRPr kumimoji="1"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D8E3317-63AD-C722-A56C-8C5FD501B499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582D72-8748-F920-D174-6607C4944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519" y="2769948"/>
            <a:ext cx="4582098" cy="37691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B9B323-AFE8-2638-500F-B289ABAE7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984" y="2355903"/>
            <a:ext cx="3637097" cy="414045"/>
          </a:xfrm>
          <a:prstGeom prst="rect">
            <a:avLst/>
          </a:prstGeom>
        </p:spPr>
      </p:pic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5CD561F2-CD8B-5243-7139-4923BD7A9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RelBench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GitHub page as of May 28, 2026.</a:t>
            </a:r>
          </a:p>
        </p:txBody>
      </p:sp>
    </p:spTree>
    <p:extLst>
      <p:ext uri="{BB962C8B-B14F-4D97-AF65-F5344CB8AC3E}">
        <p14:creationId xmlns:p14="http://schemas.microsoft.com/office/powerpoint/2010/main" val="2284630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B87A1-CD2F-98E7-C38D-A5F8273B8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0377-2992-621D-599E-148847F2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RelBench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Datasets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01799-A4ED-2A36-BDC0-3C5EBF4F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30</a:t>
            </a:fld>
            <a:endParaRPr kumimoji="1" lang="ko-KR" altLang="en-US"/>
          </a:p>
        </p:txBody>
      </p:sp>
      <p:sp>
        <p:nvSpPr>
          <p:cNvPr id="17" name="내용 개체 틀 4">
            <a:extLst>
              <a:ext uri="{FF2B5EF4-FFF2-40B4-BE49-F238E27FC236}">
                <a16:creationId xmlns:a16="http://schemas.microsoft.com/office/drawing/2014/main" id="{6660E40E-456E-B20B-6A99-3E6E8A75C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Statistics of </a:t>
            </a:r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RelBench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dataset used for </a:t>
            </a:r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KumoRFM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.</a:t>
            </a:r>
          </a:p>
          <a:p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RelBench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is updated continuously!</a:t>
            </a:r>
          </a:p>
          <a:p>
            <a:endParaRPr lang="en-US" altLang="ko-KR" sz="24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31E2B1-8BB2-BAB2-83AB-93944ECBA8DF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9607A59-2260-B5E0-2EBC-DD777DA73AB5}"/>
              </a:ext>
            </a:extLst>
          </p:cNvPr>
          <p:cNvGrpSpPr/>
          <p:nvPr/>
        </p:nvGrpSpPr>
        <p:grpSpPr>
          <a:xfrm>
            <a:off x="1881175" y="4896598"/>
            <a:ext cx="7559318" cy="1477059"/>
            <a:chOff x="1881175" y="4834841"/>
            <a:chExt cx="7559318" cy="147705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82796BC-FCB8-3718-D300-A82C225FE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4176" y="4834841"/>
              <a:ext cx="6406317" cy="147705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6D8E32-FE52-C7ED-B9F1-2BBE3E2EC175}"/>
                </a:ext>
              </a:extLst>
            </p:cNvPr>
            <p:cNvSpPr txBox="1"/>
            <p:nvPr/>
          </p:nvSpPr>
          <p:spPr>
            <a:xfrm>
              <a:off x="1881175" y="5388704"/>
              <a:ext cx="8703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b="1" dirty="0">
                  <a:latin typeface="Calibri" panose="020F0502020204030204" pitchFamily="34" charset="0"/>
                  <a:cs typeface="Calibri" panose="020F0502020204030204" pitchFamily="34" charset="0"/>
                </a:rPr>
                <a:t>v2</a:t>
              </a:r>
              <a:endParaRPr kumimoji="1" lang="ko-KR" altLang="en-US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왼쪽 중괄호[L] 8">
              <a:extLst>
                <a:ext uri="{FF2B5EF4-FFF2-40B4-BE49-F238E27FC236}">
                  <a16:creationId xmlns:a16="http://schemas.microsoft.com/office/drawing/2014/main" id="{49650286-4FA7-94B7-0257-B9F6DC28108A}"/>
                </a:ext>
              </a:extLst>
            </p:cNvPr>
            <p:cNvSpPr/>
            <p:nvPr/>
          </p:nvSpPr>
          <p:spPr>
            <a:xfrm>
              <a:off x="2605471" y="4968607"/>
              <a:ext cx="414388" cy="1238778"/>
            </a:xfrm>
            <a:prstGeom prst="leftBrace">
              <a:avLst>
                <a:gd name="adj1" fmla="val 112018"/>
                <a:gd name="adj2" fmla="val 49493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C7F3BE3-CD96-0410-4479-A07D4AA44E4E}"/>
              </a:ext>
            </a:extLst>
          </p:cNvPr>
          <p:cNvGrpSpPr/>
          <p:nvPr/>
        </p:nvGrpSpPr>
        <p:grpSpPr>
          <a:xfrm>
            <a:off x="1903209" y="2956393"/>
            <a:ext cx="7557130" cy="1885730"/>
            <a:chOff x="1903209" y="3165716"/>
            <a:chExt cx="7557130" cy="188573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C201EDB-D7C4-7973-9A7C-C4A1CF3CE561}"/>
                </a:ext>
              </a:extLst>
            </p:cNvPr>
            <p:cNvGrpSpPr/>
            <p:nvPr/>
          </p:nvGrpSpPr>
          <p:grpSpPr>
            <a:xfrm>
              <a:off x="1903209" y="3238959"/>
              <a:ext cx="1150813" cy="1746995"/>
              <a:chOff x="1881175" y="2409959"/>
              <a:chExt cx="1150813" cy="2170286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647D70-15F3-B035-3CED-D18BC5BD74C9}"/>
                  </a:ext>
                </a:extLst>
              </p:cNvPr>
              <p:cNvSpPr txBox="1"/>
              <p:nvPr/>
            </p:nvSpPr>
            <p:spPr>
              <a:xfrm>
                <a:off x="1881175" y="3310436"/>
                <a:ext cx="8703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v1</a:t>
                </a:r>
                <a:endParaRPr kumimoji="1" lang="ko-KR" alt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" name="왼쪽 중괄호[L] 7">
                <a:extLst>
                  <a:ext uri="{FF2B5EF4-FFF2-40B4-BE49-F238E27FC236}">
                    <a16:creationId xmlns:a16="http://schemas.microsoft.com/office/drawing/2014/main" id="{714A3D40-BBDC-4CEE-AB07-A8AABD3F4CE3}"/>
                  </a:ext>
                </a:extLst>
              </p:cNvPr>
              <p:cNvSpPr/>
              <p:nvPr/>
            </p:nvSpPr>
            <p:spPr>
              <a:xfrm>
                <a:off x="2617600" y="2409959"/>
                <a:ext cx="414388" cy="2170286"/>
              </a:xfrm>
              <a:prstGeom prst="leftBrace">
                <a:avLst>
                  <a:gd name="adj1" fmla="val 112018"/>
                  <a:gd name="adj2" fmla="val 49493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</p:grp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B7CA446-5A60-4BB7-26D9-DB5A5D3D1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4022" y="3165716"/>
              <a:ext cx="6406317" cy="18857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0810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39B1D-978F-536A-04FA-8C717D372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1A0A-E3D8-6D26-8982-517C0E0A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RelBench-v</a:t>
            </a:r>
            <a:r>
              <a:rPr lang="en-US" altLang="ko-KR" sz="36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Datasets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8EF90-11E0-4D5F-5DF8-0DC7BE7F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31</a:t>
            </a:fld>
            <a:endParaRPr kumimoji="1" lang="ko-KR" altLang="en-US"/>
          </a:p>
        </p:txBody>
      </p:sp>
      <p:sp>
        <p:nvSpPr>
          <p:cNvPr id="17" name="내용 개체 틀 4">
            <a:extLst>
              <a:ext uri="{FF2B5EF4-FFF2-40B4-BE49-F238E27FC236}">
                <a16:creationId xmlns:a16="http://schemas.microsoft.com/office/drawing/2014/main" id="{B6AC1A11-3384-EAB2-3BA1-EEDE06FEC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RelBench-v2 newly introduces 4 datasets and</a:t>
            </a:r>
            <a:r>
              <a:rPr lang="ko-KR" alt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autocomplete tasks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.</a:t>
            </a:r>
          </a:p>
          <a:p>
            <a:pPr lvl="1"/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Model learns to fill in a table's missing cells using the surrounding relational schema and historical context.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672E14F-7EA4-1382-F176-06C5FF3AE272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DC03BB-4A81-9847-346E-F17611D31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636" y="2967894"/>
            <a:ext cx="5324324" cy="357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9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44780-0CED-FE0D-44F3-0FDF25287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15BA-9E61-32BC-4193-3810DD7B3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Baselines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D1A7A-0DB7-B7FD-A991-05EABED0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32</a:t>
            </a:fld>
            <a:endParaRPr kumimoji="1" lang="ko-KR" altLang="en-US"/>
          </a:p>
        </p:txBody>
      </p:sp>
      <p:sp>
        <p:nvSpPr>
          <p:cNvPr id="17" name="내용 개체 틀 4">
            <a:extLst>
              <a:ext uri="{FF2B5EF4-FFF2-40B4-BE49-F238E27FC236}">
                <a16:creationId xmlns:a16="http://schemas.microsoft.com/office/drawing/2014/main" id="{E13045F1-BAAE-15DC-702C-B452F58A6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Tabular Machine Learning</a:t>
            </a:r>
          </a:p>
          <a:p>
            <a:pPr lvl="1"/>
            <a:r>
              <a:rPr lang="en-US" altLang="ko-KR" sz="20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XGBoost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, </a:t>
            </a:r>
            <a:r>
              <a:rPr lang="en-US" altLang="ko-KR" sz="20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LightGBM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Naïve method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Global mean/median</a:t>
            </a: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GNNs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Homogeneous GNNs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Heterogeneous GNNs(RGCN, HAN,HGT)</a:t>
            </a: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RDL</a:t>
            </a:r>
          </a:p>
          <a:p>
            <a:pPr lvl="1"/>
            <a:r>
              <a:rPr lang="en-US" altLang="ko-KR" sz="20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HeteroGraphSAGE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RELGT</a:t>
            </a: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LLM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4835323-AD0F-CEBE-4BD8-D88E65D0DAF8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7CF78E3-FBCD-2028-64F0-C3E24D40C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1"/>
          <a:stretch>
            <a:fillRect/>
          </a:stretch>
        </p:blipFill>
        <p:spPr>
          <a:xfrm>
            <a:off x="5772910" y="2187145"/>
            <a:ext cx="5940404" cy="314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19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C27E-60CC-C8C8-9507-F1A523363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666A1-C78D-45F0-D592-22B0F790F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B08AA-8371-FBA2-CEFF-2B6DDECD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33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07D9AA0F-BD4E-5025-DA07-8D3C718FA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Introduction to Relational Database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Deep Learning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Graph Transformer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Relational Foundation Model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Benchmark for RDL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Toy example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AF7FF2-C70D-BF7E-CC1C-3C73E3B1E5A9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8207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3D56A-9B7C-807C-1C81-1510B9112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C1A0-656B-EC88-3246-F83F8BFD9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Toy Example to Understand 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KumoRFM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627A3-DA37-DB5B-D3F9-6F8E5082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34</a:t>
            </a:fld>
            <a:endParaRPr kumimoji="1" lang="ko-KR" altLang="en-US"/>
          </a:p>
        </p:txBody>
      </p:sp>
      <p:pic>
        <p:nvPicPr>
          <p:cNvPr id="11" name="그림 10" descr="텍스트, 웹 페이지, 웹사이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478483-E023-460F-E61C-555A110AD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2484855"/>
            <a:ext cx="4174311" cy="30049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DAAF58-8A99-D0E9-3805-B0A3F956788E}"/>
              </a:ext>
            </a:extLst>
          </p:cNvPr>
          <p:cNvSpPr txBox="1"/>
          <p:nvPr/>
        </p:nvSpPr>
        <p:spPr>
          <a:xfrm>
            <a:off x="1794082" y="5669154"/>
            <a:ext cx="2929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  <a:hlinkClick r:id="rId4"/>
              </a:rPr>
              <a:t>Playground</a:t>
            </a:r>
            <a:r>
              <a:rPr lang="en-US" altLang="ko-KR" sz="18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in </a:t>
            </a:r>
            <a:r>
              <a:rPr lang="en-US" altLang="ko-KR" sz="18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Kumo.ai</a:t>
            </a:r>
            <a:endParaRPr lang="en-US" altLang="ko-KR" sz="18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A6FEC7-1C42-24E7-6788-773663EBB1DE}"/>
              </a:ext>
            </a:extLst>
          </p:cNvPr>
          <p:cNvSpPr txBox="1"/>
          <p:nvPr/>
        </p:nvSpPr>
        <p:spPr>
          <a:xfrm>
            <a:off x="6718168" y="5669154"/>
            <a:ext cx="2929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  <a:hlinkClick r:id="rId5"/>
              </a:rPr>
              <a:t>QuickStart</a:t>
            </a:r>
            <a:r>
              <a:rPr lang="en-US" altLang="ko-KR" sz="18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in </a:t>
            </a:r>
            <a:r>
              <a:rPr lang="en-US" altLang="ko-KR" sz="18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Colab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B77B5AB-1D18-22BD-C38B-7B11125AFA13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7114A0-2A5B-B865-586C-489569D0D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7997" y="2808727"/>
            <a:ext cx="4378205" cy="2860427"/>
          </a:xfrm>
          <a:prstGeom prst="rect">
            <a:avLst/>
          </a:prstGeom>
        </p:spPr>
      </p:pic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C5F5F397-1911-BE74-C16C-FE8A3A64B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Let’s play!</a:t>
            </a:r>
          </a:p>
        </p:txBody>
      </p:sp>
    </p:spTree>
    <p:extLst>
      <p:ext uri="{BB962C8B-B14F-4D97-AF65-F5344CB8AC3E}">
        <p14:creationId xmlns:p14="http://schemas.microsoft.com/office/powerpoint/2010/main" val="29727302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3FE16-B61E-D0FD-7E97-F38232FD6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8E5F8-E444-3688-3ADA-8D54E5BC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DA3F9-E19E-40A7-6635-0B0C84ADC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35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35FDE539-2924-F0F8-9AEF-D0911C82C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Fey, Matthias, et al. "Position: Relational deep learning-graph representation learning on relational databases." Forty-first International Conference on Machine Learning. 2024.</a:t>
            </a:r>
          </a:p>
          <a:p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Dwivedi, Vijay Prakash, et al. "Relational Graph Transformer." </a:t>
            </a:r>
            <a:r>
              <a:rPr lang="en" altLang="ko-KR" sz="20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arXiv</a:t>
            </a:r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preprint arXiv:2505.10960 (2025).</a:t>
            </a:r>
          </a:p>
          <a:p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Fey, Matthias, et al. "</a:t>
            </a:r>
            <a:r>
              <a:rPr lang="en" altLang="ko-KR" sz="20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Kumorfm</a:t>
            </a:r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A foundation model for in-context learning on relational data." 2025,</a:t>
            </a:r>
          </a:p>
          <a:p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Ranjan, Rishabh, et al. "Relational Transformer: Toward Zero-Shot Foundation Models for Relational Data." </a:t>
            </a:r>
            <a:r>
              <a:rPr lang="en" altLang="ko-KR" sz="20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arXiv</a:t>
            </a:r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preprint arXiv:2510.06377 (2025).</a:t>
            </a:r>
          </a:p>
          <a:p>
            <a:r>
              <a:rPr lang="en" altLang="ko-KR" sz="20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Hudovernik</a:t>
            </a:r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, Valter, et al. "KumoRFM-2: Scaling Foundation Models for Relational Learning." </a:t>
            </a:r>
            <a:r>
              <a:rPr lang="en" altLang="ko-KR" sz="20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arXiv</a:t>
            </a:r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preprint arXiv:2604.12596 (2026).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6252023-AA00-82F1-8AFB-ADADB9D027D2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6148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2568C-14D5-CE40-E894-A14EC2CE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8B0C7-394B-6DF8-569C-31DA61A95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FD562-C46C-D1D8-B043-1ECC015C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36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D06CC117-6935-CBF9-03A3-F517D0E40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Robinson, Joshua, et al. "</a:t>
            </a:r>
            <a:r>
              <a:rPr lang="en" altLang="ko-KR" sz="20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Relbench</a:t>
            </a:r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A benchmark for deep learning on relational databases." Advances in Neural Information Processing Systems 37 (2024): 21330-21341.</a:t>
            </a:r>
          </a:p>
          <a:p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Gu, Justin, et al. "</a:t>
            </a:r>
            <a:r>
              <a:rPr lang="en" altLang="ko-KR" sz="20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RelBench</a:t>
            </a:r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v2: A Large-Scale Benchmark and Repository for Relational Data." </a:t>
            </a:r>
            <a:r>
              <a:rPr lang="en" altLang="ko-KR" sz="2000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arXiv</a:t>
            </a:r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preprint arXiv:2602.12606 (2026).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DA4768-A1F3-23B4-3FD4-664097BA5082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54761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7CAA-9F9E-5EC6-C9EA-5E86FC19F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7490E-100E-6C27-AF2D-B6A451BB8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K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13776-4D1B-3D7C-F2E1-7FD0B4B1A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EAB3-BB8D-7A4F-9AF5-EBD2A3FA9A22}" type="slidenum">
              <a:rPr kumimoji="1" lang="ko-KR" altLang="en-US" smtClean="0"/>
              <a:t>37</a:t>
            </a:fld>
            <a:endParaRPr kumimoji="1" lang="ko-KR" altLang="en-US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E03FC999-E5DB-F0E7-BFBD-88228418D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  <a:hlinkClick r:id="rId3"/>
              </a:rPr>
              <a:t>https://kumo.ai</a:t>
            </a:r>
            <a:endParaRPr lang="en" altLang="ko-KR" sz="20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  <a:hlinkClick r:id="rId4"/>
              </a:rPr>
              <a:t>https://kumorfm.ai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  <a:hlinkClick r:id="rId5"/>
              </a:rPr>
              <a:t>https://relbench.stanford.edu/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  <a:hlinkClick r:id="rId6"/>
              </a:rPr>
              <a:t>https://kumo.ai/company/news/kumo-relational-foundation-model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  <a:hlinkClick r:id="rId7"/>
              </a:rPr>
              <a:t>https://research.google/blog/graph-foundation-models-for-relational-data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  <a:hlinkClick r:id="rId8"/>
              </a:rPr>
              <a:t>https://www.linkedin.com/posts/leskovec_kumoai-trains-foundation-model-for-relational-activity-7365853971019612160-es7y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30F971-1486-788F-A232-E842DEEB93F5}"/>
              </a:ext>
            </a:extLst>
          </p:cNvPr>
          <p:cNvSpPr/>
          <p:nvPr/>
        </p:nvSpPr>
        <p:spPr>
          <a:xfrm>
            <a:off x="0" y="0"/>
            <a:ext cx="28500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9628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26886</TotalTime>
  <Words>3101</Words>
  <Application>Microsoft Macintosh PowerPoint</Application>
  <PresentationFormat>와이드스크린</PresentationFormat>
  <Paragraphs>405</Paragraphs>
  <Slides>37</Slides>
  <Notes>37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2" baseType="lpstr">
      <vt:lpstr>맑은 고딕</vt:lpstr>
      <vt:lpstr>Arial</vt:lpstr>
      <vt:lpstr>Calibri</vt:lpstr>
      <vt:lpstr>Cambria Math</vt:lpstr>
      <vt:lpstr>Office 테마</vt:lpstr>
      <vt:lpstr>Relational Foundation Models (KumoRFM)</vt:lpstr>
      <vt:lpstr>Contents</vt:lpstr>
      <vt:lpstr>Relational Data(base)</vt:lpstr>
      <vt:lpstr>Basic Terminologies</vt:lpstr>
      <vt:lpstr>Recent History of Relation Deep Learning</vt:lpstr>
      <vt:lpstr>Contents</vt:lpstr>
      <vt:lpstr>Graphs</vt:lpstr>
      <vt:lpstr>Relational Entity Graph</vt:lpstr>
      <vt:lpstr>Training Table</vt:lpstr>
      <vt:lpstr>Time-Consistent Computational Graphs</vt:lpstr>
      <vt:lpstr>Temporal, Heterogeneous Message Passing</vt:lpstr>
      <vt:lpstr>Contents</vt:lpstr>
      <vt:lpstr>Relational Graph Transformer (RELGT)</vt:lpstr>
      <vt:lpstr>Encoders for Entity Embeddings</vt:lpstr>
      <vt:lpstr>Relational Graph Transformer</vt:lpstr>
      <vt:lpstr>Contents</vt:lpstr>
      <vt:lpstr>Relational Foundation Model (KumoRFM)</vt:lpstr>
      <vt:lpstr>Relational Foundation Model (KumoRFM)</vt:lpstr>
      <vt:lpstr>Predictive Query Language (PQL)</vt:lpstr>
      <vt:lpstr>Predictive Query Language (PQL)</vt:lpstr>
      <vt:lpstr>Online Context Generation</vt:lpstr>
      <vt:lpstr>Temporal Sampling Procedures</vt:lpstr>
      <vt:lpstr>Relational Foundation Model (KumoRFM-v2)</vt:lpstr>
      <vt:lpstr>KumoRFM-2 Architecture</vt:lpstr>
      <vt:lpstr>Key Changes</vt:lpstr>
      <vt:lpstr>Benchmark for KumoRFM-2</vt:lpstr>
      <vt:lpstr>Baselines for KumoRFM-v2</vt:lpstr>
      <vt:lpstr>Contents</vt:lpstr>
      <vt:lpstr>RelBench: Benchmark for Relational Model</vt:lpstr>
      <vt:lpstr>RelBench Datasets</vt:lpstr>
      <vt:lpstr>RelBench-v2 Datasets</vt:lpstr>
      <vt:lpstr>Baselines</vt:lpstr>
      <vt:lpstr>Contents</vt:lpstr>
      <vt:lpstr>Toy Example to Understand KumoRFM</vt:lpstr>
      <vt:lpstr>References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Meeting</dc:title>
  <dc:creator>함태욱</dc:creator>
  <cp:lastModifiedBy>함태욱</cp:lastModifiedBy>
  <cp:revision>7496</cp:revision>
  <cp:lastPrinted>2026-05-27T10:29:34Z</cp:lastPrinted>
  <dcterms:created xsi:type="dcterms:W3CDTF">2024-05-11T11:56:09Z</dcterms:created>
  <dcterms:modified xsi:type="dcterms:W3CDTF">2026-05-29T01:03:11Z</dcterms:modified>
</cp:coreProperties>
</file>